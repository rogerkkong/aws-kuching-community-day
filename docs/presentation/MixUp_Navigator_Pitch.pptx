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MixUp Navigator helps civil servants find the rule that applies today, with proof, in BM or English, even offline.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in one sentence: ask in BM or English and get the rule that applies today, with the clause and page as proof. Four parts: validity, citations, jurisdiction, offline.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Government agencies hold thousands of circulars, SOPs and guidelines. The hard part is not finding a document but finding the current rule. 1.3 million federal civil servants follow these rules. Up to 445,000 already have Gemini, but a general chatbot does not know which circular is valid. DDMS stores files, portals list them, none answers whether a rule is still in force. And it is getting worse: JPA is reviewing rules older than 20 years and the new Act 867 requires a review every 3 years. When MyGov's chatbot gave nonsense answers it was shut down. Sources: ISEAS 2026, NST and FMT Feb 2025, GovInsider, RTM and Berita Harian 2026, Malay Mail Aug 2025.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prototype. Step one: an officer asks about the mileage rate. MixUp Navigator answers RM0.80 per kilometre from SPP 2/2025, with the clause and page, and shows that SPP 3/2019 was excluded because it was cancelled. Step two: the lineage view shows how the rule evolved and what changed in plain language. Step three: new rules arrive as signed packs; a tampered pack is rejected and the old version stays active. Everything runs on the laptop, offline.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Cited chat with PDFs is no longer innovative: Gemini, NotebookLM and Sarawak's ADAM AI do it. Our innovation is the validity layer: a new circular arrives, MixUp reads its cancellation section, detects what it cancels, a human verifies, and every answer and alert updates. On our 30-question test, a typical chatbot cited a cancelled circular as current 91.7% of the time; MixUp Navigator, zero.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a central Publisher ingests circulars, extracts which cancels which, a human verifies, and signed knowledge packs go out over a shared folder, intranet or USB. The officer app verifies the signature, installs, and answers offline. Feasible because the parts exist: MyPPSM and eCircular publish the circulars, DDMS stores them, and the AWS Malaysia Region can host the Publisher for public documents while restricted tiers stay on-premise. Roadmap: pilot in one agency, connect to DDMS and ADAM AI, then scale.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on our test set the cancelled-citation rate drops from 91.7% to zero and correct, current answers rise from 43% to 83%. Officers get the right rule in under a minute; agencies get fewer rejected claims and an audit trail; citizens get consistent answers. We measure cancelled citations, time to answer, adoption and unanswered questions. The potential scale is 1.3 million federal officers plus the states, and the economic case is a simple formula we will fill with real numbers from the pilot.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us: we diagnosed the real gap, built a working prototype and measured it, and designed for trust. Next milestone: a pilot with one agency on real public circulars. We need a pilot agency, a corpus and feedback. Our vision: every officer, the current rule, with proof. Never a cancelled circular again.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prototype is available in our repository;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sources for every number in the deck. Links are in docs/problem-explainer.md and docs/research/teammate/README.md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A"/>
        </a:solidFill>
      </p:bgPr>
    </p:bg>
    <p:spTree>
      <p:nvGrpSpPr>
        <p:cNvPr id="1" name=""/>
        <p:cNvGrpSpPr/>
        <p:nvPr/>
      </p:nvGrpSpPr>
      <p:grpSpPr>
        <a:xfrm>
          <a:off x="0" y="0"/>
          <a:ext cx="0" cy="0"/>
          <a:chOff x="0" y="0"/>
          <a:chExt cx="0" cy="0"/>
        </a:xfrm>
      </p:grpSpPr>
      <p:sp>
        <p:nvSpPr>
          <p:cNvPr id="2" name="Text 0"/>
          <p:cNvSpPr txBox="1"/>
          <p:nvPr/>
        </p:nvSpPr>
        <p:spPr>
          <a:xfrm>
            <a:off x="731520" y="118872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MixUp Navigator</a:t>
            </a:r>
            <a:endParaRPr lang="en-US" sz="5400" dirty="0"/>
          </a:p>
        </p:txBody>
      </p:sp>
      <p:sp>
        <p:nvSpPr>
          <p:cNvPr id="3" name="Text 1"/>
          <p:cNvSpPr txBox="1"/>
          <p:nvPr/>
        </p:nvSpPr>
        <p:spPr>
          <a:xfrm>
            <a:off x="731520" y="2286000"/>
            <a:ext cx="10515600" cy="1371600"/>
          </a:xfrm>
          <a:prstGeom prst="rect">
            <a:avLst/>
          </a:prstGeom>
          <a:noFill/>
          <a:ln/>
        </p:spPr>
        <p:txBody>
          <a:bodyPr wrap="square" lIns="0" tIns="0" rIns="0" bIns="0" rtlCol="0" anchor="ctr"/>
          <a:lstStyle/>
          <a:p>
            <a:pPr indent="0" marL="0">
              <a:buNone/>
            </a:pPr>
            <a:r>
              <a:rPr lang="en-US" sz="2800" dirty="0">
                <a:solidFill>
                  <a:srgbClr val="EEF2FF"/>
                </a:solidFill>
                <a:latin typeface="Cambria" pitchFamily="34" charset="0"/>
                <a:ea typeface="Cambria" pitchFamily="34" charset="-122"/>
                <a:cs typeface="Cambria" pitchFamily="34" charset="-120"/>
              </a:rPr>
              <a:t>The current valid rule, with proof.</a:t>
            </a:r>
            <a:endParaRPr lang="en-US" sz="2800" dirty="0"/>
          </a:p>
          <a:p>
            <a:pPr indent="0" marL="0">
              <a:buNone/>
            </a:pPr>
            <a:r>
              <a:rPr lang="en-US" sz="2800" dirty="0">
                <a:solidFill>
                  <a:srgbClr val="EEF2FF"/>
                </a:solidFill>
                <a:latin typeface="Cambria" pitchFamily="34" charset="0"/>
                <a:ea typeface="Cambria" pitchFamily="34" charset="-122"/>
                <a:cs typeface="Cambria" pitchFamily="34" charset="-120"/>
              </a:rPr>
              <a:t>In Bahasa Melayu and English, even offline.</a:t>
            </a:r>
            <a:endParaRPr lang="en-US" sz="2800" dirty="0"/>
          </a:p>
        </p:txBody>
      </p:sp>
      <p:sp>
        <p:nvSpPr>
          <p:cNvPr id="4" name="Text 2"/>
          <p:cNvSpPr txBox="1"/>
          <p:nvPr/>
        </p:nvSpPr>
        <p:spPr>
          <a:xfrm>
            <a:off x="731520" y="3703320"/>
            <a:ext cx="9144000" cy="822960"/>
          </a:xfrm>
          <a:prstGeom prst="rect">
            <a:avLst/>
          </a:prstGeom>
          <a:noFill/>
          <a:ln/>
        </p:spPr>
        <p:txBody>
          <a:bodyPr wrap="square" lIns="0" tIns="0" rIns="0" bIns="0" rtlCol="0" anchor="ctr"/>
          <a:lstStyle/>
          <a:p>
            <a:pPr indent="0" marL="0">
              <a:buNone/>
            </a:pPr>
            <a:r>
              <a:rPr lang="en-US" sz="1600" dirty="0">
                <a:solidFill>
                  <a:srgbClr val="C7D0E0"/>
                </a:solidFill>
                <a:latin typeface="Calibri" pitchFamily="34" charset="0"/>
                <a:ea typeface="Calibri" pitchFamily="34" charset="-122"/>
                <a:cs typeface="Calibri" pitchFamily="34" charset="-120"/>
              </a:rPr>
              <a:t>A validity-aware assistant that answers Malaysian civil servants only from circulars still in force, cites the clause and page, and flags what was cancelled.</a:t>
            </a:r>
            <a:endParaRPr lang="en-US" sz="1600" dirty="0"/>
          </a:p>
        </p:txBody>
      </p:sp>
      <p:sp>
        <p:nvSpPr>
          <p:cNvPr id="5" name="Text 3"/>
          <p:cNvSpPr txBox="1"/>
          <p:nvPr/>
        </p:nvSpPr>
        <p:spPr>
          <a:xfrm>
            <a:off x="731520" y="5074920"/>
            <a:ext cx="54864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Team: MixUp Navigator</a:t>
            </a:r>
            <a:endParaRPr lang="en-US" sz="1600" dirty="0"/>
          </a:p>
        </p:txBody>
      </p:sp>
      <p:sp>
        <p:nvSpPr>
          <p:cNvPr id="6" name="Text 4"/>
          <p:cNvSpPr txBox="1"/>
          <p:nvPr/>
        </p:nvSpPr>
        <p:spPr>
          <a:xfrm>
            <a:off x="731520" y="5440680"/>
            <a:ext cx="5486400" cy="365760"/>
          </a:xfrm>
          <a:prstGeom prst="rect">
            <a:avLst/>
          </a:prstGeom>
          <a:noFill/>
          <a:ln/>
        </p:spPr>
        <p:txBody>
          <a:bodyPr wrap="square" lIns="0" tIns="0" rIns="0" bIns="0" rtlCol="0" anchor="ctr"/>
          <a:lstStyle/>
          <a:p>
            <a:pPr indent="0" marL="0">
              <a:buNone/>
            </a:pPr>
            <a:r>
              <a:rPr lang="en-US" sz="1400" dirty="0">
                <a:solidFill>
                  <a:srgbClr val="C7D0E0"/>
                </a:solidFill>
                <a:latin typeface="Calibri" pitchFamily="34" charset="0"/>
                <a:ea typeface="Calibri" pitchFamily="34" charset="-122"/>
                <a:cs typeface="Calibri" pitchFamily="34" charset="-120"/>
              </a:rPr>
              <a:t>University: ______________________</a:t>
            </a:r>
            <a:endParaRPr lang="en-US" sz="1400" dirty="0"/>
          </a:p>
        </p:txBody>
      </p:sp>
      <p:sp>
        <p:nvSpPr>
          <p:cNvPr id="7" name="Text 5"/>
          <p:cNvSpPr txBox="1"/>
          <p:nvPr/>
        </p:nvSpPr>
        <p:spPr>
          <a:xfrm>
            <a:off x="731520" y="5806440"/>
            <a:ext cx="8229600" cy="365760"/>
          </a:xfrm>
          <a:prstGeom prst="rect">
            <a:avLst/>
          </a:prstGeom>
          <a:noFill/>
          <a:ln/>
        </p:spPr>
        <p:txBody>
          <a:bodyPr wrap="square" lIns="0" tIns="0" rIns="0" bIns="0" rtlCol="0" anchor="ctr"/>
          <a:lstStyle/>
          <a:p>
            <a:pPr indent="0" marL="0">
              <a:buNone/>
            </a:pPr>
            <a:r>
              <a:rPr lang="en-US" sz="1400" dirty="0">
                <a:solidFill>
                  <a:srgbClr val="C7D0E0"/>
                </a:solidFill>
                <a:latin typeface="Calibri" pitchFamily="34" charset="0"/>
                <a:ea typeface="Calibri" pitchFamily="34" charset="-122"/>
                <a:cs typeface="Calibri" pitchFamily="34" charset="-120"/>
              </a:rPr>
              <a:t>Members: ______________  |  ______________  |  ______________</a:t>
            </a:r>
            <a:endParaRPr lang="en-US" sz="1400" dirty="0"/>
          </a:p>
        </p:txBody>
      </p:sp>
      <p:sp>
        <p:nvSpPr>
          <p:cNvPr id="8" name="Text 6"/>
          <p:cNvSpPr txBox="1"/>
          <p:nvPr/>
        </p:nvSpPr>
        <p:spPr>
          <a:xfrm>
            <a:off x="8778240" y="5120640"/>
            <a:ext cx="2926080" cy="1005840"/>
          </a:xfrm>
          <a:prstGeom prst="rect">
            <a:avLst/>
          </a:prstGeom>
          <a:noFill/>
          <a:ln/>
        </p:spPr>
        <p:txBody>
          <a:bodyPr wrap="square" lIns="0" tIns="0" rIns="0" bIns="0" rtlCol="0" anchor="ctr"/>
          <a:lstStyle/>
          <a:p>
            <a:pPr algn="r" indent="0" marL="0">
              <a:buNone/>
            </a:pPr>
            <a:r>
              <a:rPr lang="en-US" sz="1200" b="1" spc="200" kern="0" dirty="0">
                <a:solidFill>
                  <a:srgbClr val="E0A93A"/>
                </a:solidFill>
                <a:latin typeface="Calibri" pitchFamily="34" charset="0"/>
                <a:ea typeface="Calibri" pitchFamily="34" charset="-122"/>
                <a:cs typeface="Calibri" pitchFamily="34" charset="-120"/>
              </a:rPr>
              <a:t>NEVER CITE A CANCELLED</a:t>
            </a:r>
            <a:endParaRPr lang="en-US" sz="1200" dirty="0"/>
          </a:p>
          <a:p>
            <a:pPr algn="r" indent="0" marL="0">
              <a:buNone/>
            </a:pPr>
            <a:r>
              <a:rPr lang="en-US" sz="1200" b="1" spc="200" kern="0" dirty="0">
                <a:solidFill>
                  <a:srgbClr val="E0A93A"/>
                </a:solidFill>
                <a:latin typeface="Calibri" pitchFamily="34" charset="0"/>
                <a:ea typeface="Calibri" pitchFamily="34" charset="-122"/>
                <a:cs typeface="Calibri" pitchFamily="34" charset="-120"/>
              </a:rPr>
              <a:t>CIRCULAR AGAIN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65760"/>
          </a:xfrm>
          <a:prstGeom prst="rect">
            <a:avLst/>
          </a:prstGeom>
          <a:noFill/>
          <a:ln/>
        </p:spPr>
        <p:txBody>
          <a:bodyPr wrap="square" lIns="0" tIns="0" rIns="0" bIns="0" rtlCol="0" anchor="ctr"/>
          <a:lstStyle/>
          <a:p>
            <a:pPr indent="0" marL="0">
              <a:buNone/>
            </a:pPr>
            <a:r>
              <a:rPr lang="en-US" sz="1600" b="1" dirty="0">
                <a:solidFill>
                  <a:srgbClr val="2F6BD9"/>
                </a:solidFill>
                <a:latin typeface="Calibri" pitchFamily="34" charset="0"/>
                <a:ea typeface="Calibri" pitchFamily="34" charset="-122"/>
                <a:cs typeface="Calibri" pitchFamily="34" charset="-120"/>
              </a:rPr>
              <a:t>01   </a:t>
            </a:r>
            <a:pPr indent="0" marL="0">
              <a:buNone/>
            </a:pPr>
            <a:r>
              <a:rPr lang="en-US" sz="1600" b="1" dirty="0">
                <a:solidFill>
                  <a:srgbClr val="1A1D21"/>
                </a:solidFill>
                <a:latin typeface="Calibri" pitchFamily="34" charset="0"/>
                <a:ea typeface="Calibri" pitchFamily="34" charset="-122"/>
                <a:cs typeface="Calibri" pitchFamily="34" charset="-120"/>
              </a:rPr>
              <a:t>The Idea</a:t>
            </a:r>
            <a:endParaRPr lang="en-US" sz="1600" dirty="0"/>
          </a:p>
        </p:txBody>
      </p:sp>
      <p:sp>
        <p:nvSpPr>
          <p:cNvPr id="3" name="Text 1"/>
          <p:cNvSpPr txBox="1"/>
          <p:nvPr/>
        </p:nvSpPr>
        <p:spPr>
          <a:xfrm>
            <a:off x="9692640" y="6355080"/>
            <a:ext cx="2194560" cy="274320"/>
          </a:xfrm>
          <a:prstGeom prst="rect">
            <a:avLst/>
          </a:prstGeom>
          <a:noFill/>
          <a:ln/>
        </p:spPr>
        <p:txBody>
          <a:bodyPr wrap="square" lIns="0" tIns="0" rIns="0" bIns="0" rtlCol="0" anchor="ctr"/>
          <a:lstStyle/>
          <a:p>
            <a:pPr algn="r" indent="0" marL="0">
              <a:buNone/>
            </a:pPr>
            <a:r>
              <a:rPr lang="en-US" sz="1200" b="1" dirty="0">
                <a:solidFill>
                  <a:srgbClr val="23408E"/>
                </a:solidFill>
                <a:latin typeface="Cambria" pitchFamily="34" charset="0"/>
                <a:ea typeface="Cambria" pitchFamily="34" charset="-122"/>
                <a:cs typeface="Cambria" pitchFamily="34" charset="-120"/>
              </a:rPr>
              <a:t>MixUp Navigator</a:t>
            </a:r>
            <a:endParaRPr lang="en-US" sz="1200" dirty="0"/>
          </a:p>
        </p:txBody>
      </p:sp>
      <p:sp>
        <p:nvSpPr>
          <p:cNvPr id="4" name="Text 2"/>
          <p:cNvSpPr txBox="1"/>
          <p:nvPr/>
        </p:nvSpPr>
        <p:spPr>
          <a:xfrm>
            <a:off x="548640" y="777240"/>
            <a:ext cx="11064240" cy="822960"/>
          </a:xfrm>
          <a:prstGeom prst="rect">
            <a:avLst/>
          </a:prstGeom>
          <a:noFill/>
          <a:ln/>
        </p:spPr>
        <p:txBody>
          <a:bodyPr wrap="square" lIns="0" tIns="0" rIns="0" bIns="0" rtlCol="0" anchor="t"/>
          <a:lstStyle/>
          <a:p>
            <a:pPr indent="0" marL="0">
              <a:buNone/>
            </a:pPr>
            <a:r>
              <a:rPr lang="en-US" sz="3000" b="1" dirty="0">
                <a:solidFill>
                  <a:srgbClr val="16232A"/>
                </a:solidFill>
                <a:latin typeface="Cambria" pitchFamily="34" charset="0"/>
                <a:ea typeface="Cambria" pitchFamily="34" charset="-122"/>
                <a:cs typeface="Cambria" pitchFamily="34" charset="-120"/>
              </a:rPr>
              <a:t>One question. The current rule. With proof.</a:t>
            </a:r>
            <a:endParaRPr lang="en-US" sz="3000" dirty="0"/>
          </a:p>
        </p:txBody>
      </p:sp>
      <p:sp>
        <p:nvSpPr>
          <p:cNvPr id="5" name="Text 3"/>
          <p:cNvSpPr txBox="1"/>
          <p:nvPr/>
        </p:nvSpPr>
        <p:spPr>
          <a:xfrm>
            <a:off x="548640" y="1600200"/>
            <a:ext cx="11064240" cy="457200"/>
          </a:xfrm>
          <a:prstGeom prst="rect">
            <a:avLst/>
          </a:prstGeom>
          <a:noFill/>
          <a:ln/>
        </p:spPr>
        <p:txBody>
          <a:bodyPr wrap="square" lIns="0" tIns="0" rIns="0" bIns="0" rtlCol="0" anchor="ctr"/>
          <a:lstStyle/>
          <a:p>
            <a:pPr indent="0" marL="0">
              <a:buNone/>
            </a:pPr>
            <a:r>
              <a:rPr lang="en-US" sz="1500" dirty="0">
                <a:solidFill>
                  <a:srgbClr val="5D636B"/>
                </a:solidFill>
                <a:latin typeface="Calibri" pitchFamily="34" charset="0"/>
                <a:ea typeface="Calibri" pitchFamily="34" charset="-122"/>
                <a:cs typeface="Calibri" pitchFamily="34" charset="-120"/>
              </a:rPr>
              <a:t>MixUp Navigator answers from circulars still in force, cites circular, clause and page, and says what was cancelled, instead of quoting it.</a:t>
            </a:r>
            <a:endParaRPr lang="en-US" sz="1500" dirty="0"/>
          </a:p>
        </p:txBody>
      </p:sp>
      <p:sp>
        <p:nvSpPr>
          <p:cNvPr id="6" name="Shape 4"/>
          <p:cNvSpPr/>
          <p:nvPr/>
        </p:nvSpPr>
        <p:spPr>
          <a:xfrm>
            <a:off x="548640" y="2331720"/>
            <a:ext cx="2651760" cy="1737360"/>
          </a:xfrm>
          <a:prstGeom prst="roundRect">
            <a:avLst>
              <a:gd name="adj" fmla="val 6316"/>
            </a:avLst>
          </a:prstGeom>
          <a:solidFill>
            <a:srgbClr val="EEF1FA"/>
          </a:solidFill>
          <a:ln w="12700">
            <a:solidFill>
              <a:srgbClr val="EEF1FA"/>
            </a:solidFill>
            <a:prstDash val="solid"/>
          </a:ln>
        </p:spPr>
      </p:sp>
      <p:sp>
        <p:nvSpPr>
          <p:cNvPr id="7" name="Text 5"/>
          <p:cNvSpPr txBox="1"/>
          <p:nvPr/>
        </p:nvSpPr>
        <p:spPr>
          <a:xfrm>
            <a:off x="731520" y="2468880"/>
            <a:ext cx="2286000" cy="365760"/>
          </a:xfrm>
          <a:prstGeom prst="rect">
            <a:avLst/>
          </a:prstGeom>
          <a:noFill/>
          <a:ln/>
        </p:spPr>
        <p:txBody>
          <a:bodyPr wrap="square" lIns="0" tIns="0" rIns="0" bIns="0" rtlCol="0" anchor="ctr"/>
          <a:lstStyle/>
          <a:p>
            <a:pPr indent="0" marL="0">
              <a:buNone/>
            </a:pPr>
            <a:r>
              <a:rPr lang="en-US" sz="1400" b="1" dirty="0">
                <a:solidFill>
                  <a:srgbClr val="16232A"/>
                </a:solidFill>
                <a:latin typeface="Calibri" pitchFamily="34" charset="0"/>
                <a:ea typeface="Calibri" pitchFamily="34" charset="-122"/>
                <a:cs typeface="Calibri" pitchFamily="34" charset="-120"/>
              </a:rPr>
              <a:t>Validity engine</a:t>
            </a:r>
            <a:endParaRPr lang="en-US" sz="1400" dirty="0"/>
          </a:p>
        </p:txBody>
      </p:sp>
      <p:sp>
        <p:nvSpPr>
          <p:cNvPr id="8" name="Text 6"/>
          <p:cNvSpPr txBox="1"/>
          <p:nvPr/>
        </p:nvSpPr>
        <p:spPr>
          <a:xfrm>
            <a:off x="731520" y="2834640"/>
            <a:ext cx="2286000" cy="1097280"/>
          </a:xfrm>
          <a:prstGeom prst="rect">
            <a:avLst/>
          </a:prstGeom>
          <a:noFill/>
          <a:ln/>
        </p:spPr>
        <p:txBody>
          <a:bodyPr wrap="square" lIns="0" tIns="0" rIns="0" bIns="0" rtlCol="0" anchor="t"/>
          <a:lstStyle/>
          <a:p>
            <a:pPr indent="0" marL="0">
              <a:buNone/>
            </a:pPr>
            <a:r>
              <a:rPr lang="en-US" sz="1150" dirty="0">
                <a:solidFill>
                  <a:srgbClr val="5D636B"/>
                </a:solidFill>
                <a:latin typeface="Calibri" pitchFamily="34" charset="0"/>
                <a:ea typeface="Calibri" pitchFamily="34" charset="-122"/>
                <a:cs typeface="Calibri" pitchFamily="34" charset="-120"/>
              </a:rPr>
              <a:t>Knows which pekeliling is in force, amended or cancelled (berkuat kuasa / dipinda / dibatalkan).</a:t>
            </a:r>
            <a:endParaRPr lang="en-US" sz="1150" dirty="0"/>
          </a:p>
        </p:txBody>
      </p:sp>
      <p:sp>
        <p:nvSpPr>
          <p:cNvPr id="9" name="Shape 7"/>
          <p:cNvSpPr/>
          <p:nvPr/>
        </p:nvSpPr>
        <p:spPr>
          <a:xfrm>
            <a:off x="3383280" y="2331720"/>
            <a:ext cx="2651760" cy="1737360"/>
          </a:xfrm>
          <a:prstGeom prst="roundRect">
            <a:avLst>
              <a:gd name="adj" fmla="val 6316"/>
            </a:avLst>
          </a:prstGeom>
          <a:solidFill>
            <a:srgbClr val="EEF1FA"/>
          </a:solidFill>
          <a:ln w="12700">
            <a:solidFill>
              <a:srgbClr val="EEF1FA"/>
            </a:solidFill>
            <a:prstDash val="solid"/>
          </a:ln>
        </p:spPr>
      </p:sp>
      <p:sp>
        <p:nvSpPr>
          <p:cNvPr id="10" name="Text 8"/>
          <p:cNvSpPr txBox="1"/>
          <p:nvPr/>
        </p:nvSpPr>
        <p:spPr>
          <a:xfrm>
            <a:off x="3566160" y="2468880"/>
            <a:ext cx="2286000" cy="365760"/>
          </a:xfrm>
          <a:prstGeom prst="rect">
            <a:avLst/>
          </a:prstGeom>
          <a:noFill/>
          <a:ln/>
        </p:spPr>
        <p:txBody>
          <a:bodyPr wrap="square" lIns="0" tIns="0" rIns="0" bIns="0" rtlCol="0" anchor="ctr"/>
          <a:lstStyle/>
          <a:p>
            <a:pPr indent="0" marL="0">
              <a:buNone/>
            </a:pPr>
            <a:r>
              <a:rPr lang="en-US" sz="1400" b="1" dirty="0">
                <a:solidFill>
                  <a:srgbClr val="16232A"/>
                </a:solidFill>
                <a:latin typeface="Calibri" pitchFamily="34" charset="0"/>
                <a:ea typeface="Calibri" pitchFamily="34" charset="-122"/>
                <a:cs typeface="Calibri" pitchFamily="34" charset="-120"/>
              </a:rPr>
              <a:t>Cited answers</a:t>
            </a:r>
            <a:endParaRPr lang="en-US" sz="1400" dirty="0"/>
          </a:p>
        </p:txBody>
      </p:sp>
      <p:sp>
        <p:nvSpPr>
          <p:cNvPr id="11" name="Text 9"/>
          <p:cNvSpPr txBox="1"/>
          <p:nvPr/>
        </p:nvSpPr>
        <p:spPr>
          <a:xfrm>
            <a:off x="3566160" y="2834640"/>
            <a:ext cx="2286000" cy="1097280"/>
          </a:xfrm>
          <a:prstGeom prst="rect">
            <a:avLst/>
          </a:prstGeom>
          <a:noFill/>
          <a:ln/>
        </p:spPr>
        <p:txBody>
          <a:bodyPr wrap="square" lIns="0" tIns="0" rIns="0" bIns="0" rtlCol="0" anchor="t"/>
          <a:lstStyle/>
          <a:p>
            <a:pPr indent="0" marL="0">
              <a:buNone/>
            </a:pPr>
            <a:r>
              <a:rPr lang="en-US" sz="1150" dirty="0">
                <a:solidFill>
                  <a:srgbClr val="5D636B"/>
                </a:solidFill>
                <a:latin typeface="Calibri" pitchFamily="34" charset="0"/>
                <a:ea typeface="Calibri" pitchFamily="34" charset="-122"/>
                <a:cs typeface="Calibri" pitchFamily="34" charset="-120"/>
              </a:rPr>
              <a:t>Every rule ends with [S1]: circular, clause and page you can open.</a:t>
            </a:r>
            <a:endParaRPr lang="en-US" sz="1150" dirty="0"/>
          </a:p>
        </p:txBody>
      </p:sp>
      <p:sp>
        <p:nvSpPr>
          <p:cNvPr id="12" name="Shape 10"/>
          <p:cNvSpPr/>
          <p:nvPr/>
        </p:nvSpPr>
        <p:spPr>
          <a:xfrm>
            <a:off x="6217920" y="2331720"/>
            <a:ext cx="2651760" cy="1737360"/>
          </a:xfrm>
          <a:prstGeom prst="roundRect">
            <a:avLst>
              <a:gd name="adj" fmla="val 6316"/>
            </a:avLst>
          </a:prstGeom>
          <a:solidFill>
            <a:srgbClr val="EEF1FA"/>
          </a:solidFill>
          <a:ln w="12700">
            <a:solidFill>
              <a:srgbClr val="EEF1FA"/>
            </a:solidFill>
            <a:prstDash val="solid"/>
          </a:ln>
        </p:spPr>
      </p:sp>
      <p:sp>
        <p:nvSpPr>
          <p:cNvPr id="13" name="Text 11"/>
          <p:cNvSpPr txBox="1"/>
          <p:nvPr/>
        </p:nvSpPr>
        <p:spPr>
          <a:xfrm>
            <a:off x="6400800" y="2468880"/>
            <a:ext cx="2286000" cy="365760"/>
          </a:xfrm>
          <a:prstGeom prst="rect">
            <a:avLst/>
          </a:prstGeom>
          <a:noFill/>
          <a:ln/>
        </p:spPr>
        <p:txBody>
          <a:bodyPr wrap="square" lIns="0" tIns="0" rIns="0" bIns="0" rtlCol="0" anchor="ctr"/>
          <a:lstStyle/>
          <a:p>
            <a:pPr indent="0" marL="0">
              <a:buNone/>
            </a:pPr>
            <a:r>
              <a:rPr lang="en-US" sz="1400" b="1" dirty="0">
                <a:solidFill>
                  <a:srgbClr val="16232A"/>
                </a:solidFill>
                <a:latin typeface="Calibri" pitchFamily="34" charset="0"/>
                <a:ea typeface="Calibri" pitchFamily="34" charset="-122"/>
                <a:cs typeface="Calibri" pitchFamily="34" charset="-120"/>
              </a:rPr>
              <a:t>Right jurisdiction</a:t>
            </a:r>
            <a:endParaRPr lang="en-US" sz="1400" dirty="0"/>
          </a:p>
        </p:txBody>
      </p:sp>
      <p:sp>
        <p:nvSpPr>
          <p:cNvPr id="14" name="Text 12"/>
          <p:cNvSpPr txBox="1"/>
          <p:nvPr/>
        </p:nvSpPr>
        <p:spPr>
          <a:xfrm>
            <a:off x="6400800" y="2834640"/>
            <a:ext cx="2286000" cy="1097280"/>
          </a:xfrm>
          <a:prstGeom prst="rect">
            <a:avLst/>
          </a:prstGeom>
          <a:noFill/>
          <a:ln/>
        </p:spPr>
        <p:txBody>
          <a:bodyPr wrap="square" lIns="0" tIns="0" rIns="0" bIns="0" rtlCol="0" anchor="t"/>
          <a:lstStyle/>
          <a:p>
            <a:pPr indent="0" marL="0">
              <a:buNone/>
            </a:pPr>
            <a:r>
              <a:rPr lang="en-US" sz="1150" dirty="0">
                <a:solidFill>
                  <a:srgbClr val="5D636B"/>
                </a:solidFill>
                <a:latin typeface="Calibri" pitchFamily="34" charset="0"/>
                <a:ea typeface="Calibri" pitchFamily="34" charset="-122"/>
                <a:cs typeface="Calibri" pitchFamily="34" charset="-120"/>
              </a:rPr>
              <a:t>Federal or Sarawak rule first, the other side by side.</a:t>
            </a:r>
            <a:endParaRPr lang="en-US" sz="1150" dirty="0"/>
          </a:p>
        </p:txBody>
      </p:sp>
      <p:sp>
        <p:nvSpPr>
          <p:cNvPr id="15" name="Shape 13"/>
          <p:cNvSpPr/>
          <p:nvPr/>
        </p:nvSpPr>
        <p:spPr>
          <a:xfrm>
            <a:off x="9052560" y="2331720"/>
            <a:ext cx="2651760" cy="1737360"/>
          </a:xfrm>
          <a:prstGeom prst="roundRect">
            <a:avLst>
              <a:gd name="adj" fmla="val 6316"/>
            </a:avLst>
          </a:prstGeom>
          <a:solidFill>
            <a:srgbClr val="EEF1FA"/>
          </a:solidFill>
          <a:ln w="12700">
            <a:solidFill>
              <a:srgbClr val="EEF1FA"/>
            </a:solidFill>
            <a:prstDash val="solid"/>
          </a:ln>
        </p:spPr>
      </p:sp>
      <p:sp>
        <p:nvSpPr>
          <p:cNvPr id="16" name="Text 14"/>
          <p:cNvSpPr txBox="1"/>
          <p:nvPr/>
        </p:nvSpPr>
        <p:spPr>
          <a:xfrm>
            <a:off x="9235440" y="2468880"/>
            <a:ext cx="2286000" cy="365760"/>
          </a:xfrm>
          <a:prstGeom prst="rect">
            <a:avLst/>
          </a:prstGeom>
          <a:noFill/>
          <a:ln/>
        </p:spPr>
        <p:txBody>
          <a:bodyPr wrap="square" lIns="0" tIns="0" rIns="0" bIns="0" rtlCol="0" anchor="ctr"/>
          <a:lstStyle/>
          <a:p>
            <a:pPr indent="0" marL="0">
              <a:buNone/>
            </a:pPr>
            <a:r>
              <a:rPr lang="en-US" sz="1400" b="1" dirty="0">
                <a:solidFill>
                  <a:srgbClr val="16232A"/>
                </a:solidFill>
                <a:latin typeface="Calibri" pitchFamily="34" charset="0"/>
                <a:ea typeface="Calibri" pitchFamily="34" charset="-122"/>
                <a:cs typeface="Calibri" pitchFamily="34" charset="-120"/>
              </a:rPr>
              <a:t>Works offline</a:t>
            </a:r>
            <a:endParaRPr lang="en-US" sz="1400" dirty="0"/>
          </a:p>
        </p:txBody>
      </p:sp>
      <p:sp>
        <p:nvSpPr>
          <p:cNvPr id="17" name="Text 15"/>
          <p:cNvSpPr txBox="1"/>
          <p:nvPr/>
        </p:nvSpPr>
        <p:spPr>
          <a:xfrm>
            <a:off x="9235440" y="2834640"/>
            <a:ext cx="2286000" cy="1097280"/>
          </a:xfrm>
          <a:prstGeom prst="rect">
            <a:avLst/>
          </a:prstGeom>
          <a:noFill/>
          <a:ln/>
        </p:spPr>
        <p:txBody>
          <a:bodyPr wrap="square" lIns="0" tIns="0" rIns="0" bIns="0" rtlCol="0" anchor="t"/>
          <a:lstStyle/>
          <a:p>
            <a:pPr indent="0" marL="0">
              <a:buNone/>
            </a:pPr>
            <a:r>
              <a:rPr lang="en-US" sz="1150" dirty="0">
                <a:solidFill>
                  <a:srgbClr val="5D636B"/>
                </a:solidFill>
                <a:latin typeface="Calibri" pitchFamily="34" charset="0"/>
                <a:ea typeface="Calibri" pitchFamily="34" charset="-122"/>
                <a:cs typeface="Calibri" pitchFamily="34" charset="-120"/>
              </a:rPr>
              <a:t>Runs on the officer's PC. Documents and questions never leave it.</a:t>
            </a:r>
            <a:endParaRPr lang="en-US" sz="1150" dirty="0"/>
          </a:p>
        </p:txBody>
      </p:sp>
      <p:pic>
        <p:nvPicPr>
          <p:cNvPr id="18" name="Image 0" descr="/home/user/AWS-Kuching-Community-Day/docs/diagrams/01-mixup-overview.png">    </p:cNvPr>
          <p:cNvPicPr>
            <a:picLocks noChangeAspect="1"/>
          </p:cNvPicPr>
          <p:nvPr/>
        </p:nvPicPr>
        <p:blipFill>
          <a:blip r:embed="rId1"/>
          <a:stretch>
            <a:fillRect/>
          </a:stretch>
        </p:blipFill>
        <p:spPr>
          <a:xfrm>
            <a:off x="548640" y="4297680"/>
            <a:ext cx="3657600" cy="2057400"/>
          </a:xfrm>
          <a:prstGeom prst="rect">
            <a:avLst/>
          </a:prstGeom>
        </p:spPr>
      </p:pic>
      <p:sp>
        <p:nvSpPr>
          <p:cNvPr id="19" name="Text 16"/>
          <p:cNvSpPr txBox="1"/>
          <p:nvPr/>
        </p:nvSpPr>
        <p:spPr>
          <a:xfrm>
            <a:off x="4480560" y="4389120"/>
            <a:ext cx="7132320" cy="1737360"/>
          </a:xfrm>
          <a:prstGeom prst="rect">
            <a:avLst/>
          </a:prstGeom>
          <a:noFill/>
          <a:ln/>
        </p:spPr>
        <p:txBody>
          <a:bodyPr wrap="square" lIns="0" tIns="0" rIns="0" bIns="0" rtlCol="0" anchor="t"/>
          <a:lstStyle/>
          <a:p>
            <a:pPr indent="0" marL="0">
              <a:buNone/>
            </a:pPr>
            <a:r>
              <a:rPr lang="en-US" sz="1400" dirty="0">
                <a:solidFill>
                  <a:srgbClr val="1A1D21"/>
                </a:solidFill>
                <a:latin typeface="Calibri" pitchFamily="34" charset="0"/>
                <a:ea typeface="Calibri" pitchFamily="34" charset="-122"/>
                <a:cs typeface="Calibri" pitchFamily="34" charset="-120"/>
              </a:rPr>
              <a:t>Sources in: circulars, SOPs, guidelines and minutes from MyPPSM, Treasury circulars, Sarawak eCircular and agency files.</a:t>
            </a:r>
            <a:endParaRPr lang="en-US" sz="1400" dirty="0"/>
          </a:p>
          <a:p>
            <a:pPr indent="0" marL="0">
              <a:buNone/>
            </a:pPr>
            <a:r>
              <a:rPr lang="en-US" sz="1400" dirty="0">
                <a:solidFill>
                  <a:srgbClr val="1A1D21"/>
                </a:solidFill>
                <a:latin typeface="Calibri" pitchFamily="34" charset="0"/>
                <a:ea typeface="Calibri" pitchFamily="34" charset="-122"/>
                <a:cs typeface="Calibri" pitchFamily="34" charset="-120"/>
              </a:rPr>
              <a:t>Out: a cited answer, the excluded cancelled circulars, lineage, what changed and alerts.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65760"/>
          </a:xfrm>
          <a:prstGeom prst="rect">
            <a:avLst/>
          </a:prstGeom>
          <a:noFill/>
          <a:ln/>
        </p:spPr>
        <p:txBody>
          <a:bodyPr wrap="square" lIns="0" tIns="0" rIns="0" bIns="0" rtlCol="0" anchor="ctr"/>
          <a:lstStyle/>
          <a:p>
            <a:pPr indent="0" marL="0">
              <a:buNone/>
            </a:pPr>
            <a:r>
              <a:rPr lang="en-US" sz="1600" b="1" dirty="0">
                <a:solidFill>
                  <a:srgbClr val="2F6BD9"/>
                </a:solidFill>
                <a:latin typeface="Calibri" pitchFamily="34" charset="0"/>
                <a:ea typeface="Calibri" pitchFamily="34" charset="-122"/>
                <a:cs typeface="Calibri" pitchFamily="34" charset="-120"/>
              </a:rPr>
              <a:t>02   </a:t>
            </a:r>
            <a:pPr indent="0" marL="0">
              <a:buNone/>
            </a:pPr>
            <a:r>
              <a:rPr lang="en-US" sz="1600" b="1" dirty="0">
                <a:solidFill>
                  <a:srgbClr val="1A1D21"/>
                </a:solidFill>
                <a:latin typeface="Calibri" pitchFamily="34" charset="0"/>
                <a:ea typeface="Calibri" pitchFamily="34" charset="-122"/>
                <a:cs typeface="Calibri" pitchFamily="34" charset="-120"/>
              </a:rPr>
              <a:t>The Problem</a:t>
            </a:r>
            <a:endParaRPr lang="en-US" sz="1600" dirty="0"/>
          </a:p>
        </p:txBody>
      </p:sp>
      <p:sp>
        <p:nvSpPr>
          <p:cNvPr id="3" name="Text 1"/>
          <p:cNvSpPr txBox="1"/>
          <p:nvPr/>
        </p:nvSpPr>
        <p:spPr>
          <a:xfrm>
            <a:off x="9692640" y="6355080"/>
            <a:ext cx="2194560" cy="274320"/>
          </a:xfrm>
          <a:prstGeom prst="rect">
            <a:avLst/>
          </a:prstGeom>
          <a:noFill/>
          <a:ln/>
        </p:spPr>
        <p:txBody>
          <a:bodyPr wrap="square" lIns="0" tIns="0" rIns="0" bIns="0" rtlCol="0" anchor="ctr"/>
          <a:lstStyle/>
          <a:p>
            <a:pPr algn="r" indent="0" marL="0">
              <a:buNone/>
            </a:pPr>
            <a:r>
              <a:rPr lang="en-US" sz="1200" b="1" dirty="0">
                <a:solidFill>
                  <a:srgbClr val="23408E"/>
                </a:solidFill>
                <a:latin typeface="Cambria" pitchFamily="34" charset="0"/>
                <a:ea typeface="Cambria" pitchFamily="34" charset="-122"/>
                <a:cs typeface="Cambria" pitchFamily="34" charset="-120"/>
              </a:rPr>
              <a:t>MixUp Navigator</a:t>
            </a:r>
            <a:endParaRPr lang="en-US" sz="1200" dirty="0"/>
          </a:p>
        </p:txBody>
      </p:sp>
      <p:sp>
        <p:nvSpPr>
          <p:cNvPr id="4" name="Text 2"/>
          <p:cNvSpPr txBox="1"/>
          <p:nvPr/>
        </p:nvSpPr>
        <p:spPr>
          <a:xfrm>
            <a:off x="548640" y="777240"/>
            <a:ext cx="11064240" cy="822960"/>
          </a:xfrm>
          <a:prstGeom prst="rect">
            <a:avLst/>
          </a:prstGeom>
          <a:noFill/>
          <a:ln/>
        </p:spPr>
        <p:txBody>
          <a:bodyPr wrap="square" lIns="0" tIns="0" rIns="0" bIns="0" rtlCol="0" anchor="t"/>
          <a:lstStyle/>
          <a:p>
            <a:pPr indent="0" marL="0">
              <a:buNone/>
            </a:pPr>
            <a:r>
              <a:rPr lang="en-US" sz="3000" b="1" dirty="0">
                <a:solidFill>
                  <a:srgbClr val="16232A"/>
                </a:solidFill>
                <a:latin typeface="Cambria" pitchFamily="34" charset="0"/>
                <a:ea typeface="Cambria" pitchFamily="34" charset="-122"/>
                <a:cs typeface="Cambria" pitchFamily="34" charset="-120"/>
              </a:rPr>
              <a:t>Finding the current rule is the real problem.</a:t>
            </a:r>
            <a:endParaRPr lang="en-US" sz="3000" dirty="0"/>
          </a:p>
        </p:txBody>
      </p:sp>
      <p:sp>
        <p:nvSpPr>
          <p:cNvPr id="5" name="Text 3"/>
          <p:cNvSpPr txBox="1"/>
          <p:nvPr/>
        </p:nvSpPr>
        <p:spPr>
          <a:xfrm>
            <a:off x="548640" y="1600200"/>
            <a:ext cx="11064240" cy="457200"/>
          </a:xfrm>
          <a:prstGeom prst="rect">
            <a:avLst/>
          </a:prstGeom>
          <a:noFill/>
          <a:ln/>
        </p:spPr>
        <p:txBody>
          <a:bodyPr wrap="square" lIns="0" tIns="0" rIns="0" bIns="0" rtlCol="0" anchor="ctr"/>
          <a:lstStyle/>
          <a:p>
            <a:pPr indent="0" marL="0">
              <a:buNone/>
            </a:pPr>
            <a:r>
              <a:rPr lang="en-US" sz="1500" dirty="0">
                <a:solidFill>
                  <a:srgbClr val="5D636B"/>
                </a:solidFill>
                <a:latin typeface="Calibri" pitchFamily="34" charset="0"/>
                <a:ea typeface="Calibri" pitchFamily="34" charset="-122"/>
                <a:cs typeface="Calibri" pitchFamily="34" charset="-120"/>
              </a:rPr>
              <a:t>Circulars are amended and cancelled all the time, but the old file stays in folders, portals and chatbots.</a:t>
            </a:r>
            <a:endParaRPr lang="en-US" sz="1500" dirty="0"/>
          </a:p>
        </p:txBody>
      </p:sp>
      <p:sp>
        <p:nvSpPr>
          <p:cNvPr id="6" name="Text 4"/>
          <p:cNvSpPr txBox="1"/>
          <p:nvPr/>
        </p:nvSpPr>
        <p:spPr>
          <a:xfrm>
            <a:off x="548640" y="2240280"/>
            <a:ext cx="3566160" cy="685800"/>
          </a:xfrm>
          <a:prstGeom prst="rect">
            <a:avLst/>
          </a:prstGeom>
          <a:noFill/>
          <a:ln/>
        </p:spPr>
        <p:txBody>
          <a:bodyPr wrap="square" lIns="0" tIns="0" rIns="0" bIns="0" rtlCol="0" anchor="ctr"/>
          <a:lstStyle/>
          <a:p>
            <a:pPr indent="0" marL="0">
              <a:buNone/>
            </a:pPr>
            <a:r>
              <a:rPr lang="en-US" sz="3600" b="1" dirty="0">
                <a:solidFill>
                  <a:srgbClr val="23408E"/>
                </a:solidFill>
                <a:latin typeface="Cambria" pitchFamily="34" charset="0"/>
                <a:ea typeface="Cambria" pitchFamily="34" charset="-122"/>
                <a:cs typeface="Cambria" pitchFamily="34" charset="-120"/>
              </a:rPr>
              <a:t>1.3 million</a:t>
            </a:r>
            <a:endParaRPr lang="en-US" sz="3600" dirty="0"/>
          </a:p>
        </p:txBody>
      </p:sp>
      <p:sp>
        <p:nvSpPr>
          <p:cNvPr id="7" name="Text 5"/>
          <p:cNvSpPr txBox="1"/>
          <p:nvPr/>
        </p:nvSpPr>
        <p:spPr>
          <a:xfrm>
            <a:off x="548640" y="2926080"/>
            <a:ext cx="3566160" cy="548640"/>
          </a:xfrm>
          <a:prstGeom prst="rect">
            <a:avLst/>
          </a:prstGeom>
          <a:noFill/>
          <a:ln/>
        </p:spPr>
        <p:txBody>
          <a:bodyPr wrap="square" lIns="0" tIns="0" rIns="0" bIns="0" rtlCol="0" anchor="t"/>
          <a:lstStyle/>
          <a:p>
            <a:pPr indent="0" marL="0">
              <a:buNone/>
            </a:pPr>
            <a:r>
              <a:rPr lang="en-US" sz="1150" dirty="0">
                <a:solidFill>
                  <a:srgbClr val="5D636B"/>
                </a:solidFill>
                <a:latin typeface="Calibri" pitchFamily="34" charset="0"/>
                <a:ea typeface="Calibri" pitchFamily="34" charset="-122"/>
                <a:cs typeface="Calibri" pitchFamily="34" charset="-120"/>
              </a:rPr>
              <a:t>federal civil servants follow these rules (ISEAS, 2026)</a:t>
            </a:r>
            <a:endParaRPr lang="en-US" sz="1150" dirty="0"/>
          </a:p>
        </p:txBody>
      </p:sp>
      <p:sp>
        <p:nvSpPr>
          <p:cNvPr id="8" name="Text 6"/>
          <p:cNvSpPr txBox="1"/>
          <p:nvPr/>
        </p:nvSpPr>
        <p:spPr>
          <a:xfrm>
            <a:off x="4297680" y="2240280"/>
            <a:ext cx="3657600" cy="685800"/>
          </a:xfrm>
          <a:prstGeom prst="rect">
            <a:avLst/>
          </a:prstGeom>
          <a:noFill/>
          <a:ln/>
        </p:spPr>
        <p:txBody>
          <a:bodyPr wrap="square" lIns="0" tIns="0" rIns="0" bIns="0" rtlCol="0" anchor="ctr"/>
          <a:lstStyle/>
          <a:p>
            <a:pPr indent="0" marL="0">
              <a:buNone/>
            </a:pPr>
            <a:r>
              <a:rPr lang="en-US" sz="3600" b="1" dirty="0">
                <a:solidFill>
                  <a:srgbClr val="23408E"/>
                </a:solidFill>
                <a:latin typeface="Cambria" pitchFamily="34" charset="0"/>
                <a:ea typeface="Cambria" pitchFamily="34" charset="-122"/>
                <a:cs typeface="Cambria" pitchFamily="34" charset="-120"/>
              </a:rPr>
              <a:t>up to 445,000</a:t>
            </a:r>
            <a:endParaRPr lang="en-US" sz="3600" dirty="0"/>
          </a:p>
        </p:txBody>
      </p:sp>
      <p:sp>
        <p:nvSpPr>
          <p:cNvPr id="9" name="Text 7"/>
          <p:cNvSpPr txBox="1"/>
          <p:nvPr/>
        </p:nvSpPr>
        <p:spPr>
          <a:xfrm>
            <a:off x="4297680" y="2926080"/>
            <a:ext cx="3657600" cy="548640"/>
          </a:xfrm>
          <a:prstGeom prst="rect">
            <a:avLst/>
          </a:prstGeom>
          <a:noFill/>
          <a:ln/>
        </p:spPr>
        <p:txBody>
          <a:bodyPr wrap="square" lIns="0" tIns="0" rIns="0" bIns="0" rtlCol="0" anchor="t"/>
          <a:lstStyle/>
          <a:p>
            <a:pPr indent="0" marL="0">
              <a:buNone/>
            </a:pPr>
            <a:r>
              <a:rPr lang="en-US" sz="1150" dirty="0">
                <a:solidFill>
                  <a:srgbClr val="5D636B"/>
                </a:solidFill>
                <a:latin typeface="Calibri" pitchFamily="34" charset="0"/>
                <a:ea typeface="Calibri" pitchFamily="34" charset="-122"/>
                <a:cs typeface="Calibri" pitchFamily="34" charset="-120"/>
              </a:rPr>
              <a:t>officers already have Gemini via AI at Work 2.0 (Feb 2025): a general tool that does not know which circular is valid</a:t>
            </a:r>
            <a:endParaRPr lang="en-US" sz="1150" dirty="0"/>
          </a:p>
        </p:txBody>
      </p:sp>
      <p:sp>
        <p:nvSpPr>
          <p:cNvPr id="10" name="Text 8"/>
          <p:cNvSpPr txBox="1"/>
          <p:nvPr/>
        </p:nvSpPr>
        <p:spPr>
          <a:xfrm>
            <a:off x="8138160" y="2240280"/>
            <a:ext cx="3566160" cy="685800"/>
          </a:xfrm>
          <a:prstGeom prst="rect">
            <a:avLst/>
          </a:prstGeom>
          <a:noFill/>
          <a:ln/>
        </p:spPr>
        <p:txBody>
          <a:bodyPr wrap="square" lIns="0" tIns="0" rIns="0" bIns="0" rtlCol="0" anchor="ctr"/>
          <a:lstStyle/>
          <a:p>
            <a:pPr indent="0" marL="0">
              <a:buNone/>
            </a:pPr>
            <a:r>
              <a:rPr lang="en-US" sz="3600" b="1" dirty="0">
                <a:solidFill>
                  <a:srgbClr val="23408E"/>
                </a:solidFill>
                <a:latin typeface="Cambria" pitchFamily="34" charset="0"/>
                <a:ea typeface="Cambria" pitchFamily="34" charset="-122"/>
                <a:cs typeface="Cambria" pitchFamily="34" charset="-120"/>
              </a:rPr>
              <a:t>395 agencies</a:t>
            </a:r>
            <a:endParaRPr lang="en-US" sz="3600" dirty="0"/>
          </a:p>
        </p:txBody>
      </p:sp>
      <p:sp>
        <p:nvSpPr>
          <p:cNvPr id="11" name="Text 9"/>
          <p:cNvSpPr txBox="1"/>
          <p:nvPr/>
        </p:nvSpPr>
        <p:spPr>
          <a:xfrm>
            <a:off x="8138160" y="2926080"/>
            <a:ext cx="3566160" cy="548640"/>
          </a:xfrm>
          <a:prstGeom prst="rect">
            <a:avLst/>
          </a:prstGeom>
          <a:noFill/>
          <a:ln/>
        </p:spPr>
        <p:txBody>
          <a:bodyPr wrap="square" lIns="0" tIns="0" rIns="0" bIns="0" rtlCol="0" anchor="t"/>
          <a:lstStyle/>
          <a:p>
            <a:pPr indent="0" marL="0">
              <a:buNone/>
            </a:pPr>
            <a:r>
              <a:rPr lang="en-US" sz="1150" dirty="0">
                <a:solidFill>
                  <a:srgbClr val="5D636B"/>
                </a:solidFill>
                <a:latin typeface="Calibri" pitchFamily="34" charset="0"/>
                <a:ea typeface="Calibri" pitchFamily="34" charset="-122"/>
                <a:cs typeface="Calibri" pitchFamily="34" charset="-120"/>
              </a:rPr>
              <a:t>and 56,000+ users store records in DDMS 2.0 (JDN via GovInsider): it stores files, it does not answer questions</a:t>
            </a:r>
            <a:endParaRPr lang="en-US" sz="1150" dirty="0"/>
          </a:p>
        </p:txBody>
      </p:sp>
      <p:sp>
        <p:nvSpPr>
          <p:cNvPr id="12" name="Shape 10"/>
          <p:cNvSpPr/>
          <p:nvPr/>
        </p:nvSpPr>
        <p:spPr>
          <a:xfrm>
            <a:off x="548640" y="3703320"/>
            <a:ext cx="11064240" cy="1143000"/>
          </a:xfrm>
          <a:prstGeom prst="roundRect">
            <a:avLst>
              <a:gd name="adj" fmla="val 9600"/>
            </a:avLst>
          </a:prstGeom>
          <a:solidFill>
            <a:srgbClr val="EEF1FA"/>
          </a:solidFill>
          <a:ln w="12700">
            <a:solidFill>
              <a:srgbClr val="EEF1FA"/>
            </a:solidFill>
            <a:prstDash val="solid"/>
          </a:ln>
        </p:spPr>
      </p:sp>
      <p:sp>
        <p:nvSpPr>
          <p:cNvPr id="13" name="Text 11"/>
          <p:cNvSpPr txBox="1"/>
          <p:nvPr/>
        </p:nvSpPr>
        <p:spPr>
          <a:xfrm>
            <a:off x="731520" y="3767328"/>
            <a:ext cx="5486400" cy="320040"/>
          </a:xfrm>
          <a:prstGeom prst="rect">
            <a:avLst/>
          </a:prstGeom>
          <a:noFill/>
          <a:ln/>
        </p:spPr>
        <p:txBody>
          <a:bodyPr wrap="square" lIns="0" tIns="0" rIns="0" bIns="0" rtlCol="0" anchor="ctr"/>
          <a:lstStyle/>
          <a:p>
            <a:pPr indent="0" marL="0">
              <a:buNone/>
            </a:pPr>
            <a:r>
              <a:rPr lang="en-US" sz="1300" b="1" dirty="0">
                <a:solidFill>
                  <a:srgbClr val="16232A"/>
                </a:solidFill>
                <a:latin typeface="Calibri" pitchFamily="34" charset="0"/>
                <a:ea typeface="Calibri" pitchFamily="34" charset="-122"/>
                <a:cs typeface="Calibri" pitchFamily="34" charset="-120"/>
              </a:rPr>
              <a:t>Existing systems work in silos</a:t>
            </a:r>
            <a:endParaRPr lang="en-US" sz="1300" dirty="0"/>
          </a:p>
        </p:txBody>
      </p:sp>
      <p:sp>
        <p:nvSpPr>
          <p:cNvPr id="14" name="Shape 12"/>
          <p:cNvSpPr/>
          <p:nvPr/>
        </p:nvSpPr>
        <p:spPr>
          <a:xfrm>
            <a:off x="777240" y="4133088"/>
            <a:ext cx="1874520" cy="594360"/>
          </a:xfrm>
          <a:prstGeom prst="roundRect">
            <a:avLst>
              <a:gd name="adj" fmla="val 12308"/>
            </a:avLst>
          </a:prstGeom>
          <a:solidFill>
            <a:srgbClr val="FFFFFF"/>
          </a:solidFill>
          <a:ln w="12700">
            <a:solidFill>
              <a:srgbClr val="DAD5CB"/>
            </a:solidFill>
            <a:prstDash val="solid"/>
          </a:ln>
        </p:spPr>
      </p:sp>
      <p:sp>
        <p:nvSpPr>
          <p:cNvPr id="15" name="Text 13"/>
          <p:cNvSpPr txBox="1"/>
          <p:nvPr/>
        </p:nvSpPr>
        <p:spPr>
          <a:xfrm>
            <a:off x="777240" y="4133088"/>
            <a:ext cx="1874520" cy="594360"/>
          </a:xfrm>
          <a:prstGeom prst="rect">
            <a:avLst/>
          </a:prstGeom>
          <a:noFill/>
          <a:ln/>
        </p:spPr>
        <p:txBody>
          <a:bodyPr wrap="square" lIns="0" tIns="0" rIns="0" bIns="0" rtlCol="0" anchor="ctr"/>
          <a:lstStyle/>
          <a:p>
            <a:pPr algn="ctr" indent="0" marL="0">
              <a:buNone/>
            </a:pPr>
            <a:r>
              <a:rPr lang="en-US" sz="1050" b="1" dirty="0">
                <a:solidFill>
                  <a:srgbClr val="23408E"/>
                </a:solidFill>
                <a:latin typeface="Calibri" pitchFamily="34" charset="0"/>
                <a:ea typeface="Calibri" pitchFamily="34" charset="-122"/>
                <a:cs typeface="Calibri" pitchFamily="34" charset="-120"/>
              </a:rPr>
              <a:t>DDMS 2.0</a:t>
            </a:r>
            <a:endParaRPr lang="en-US" sz="1050" dirty="0"/>
          </a:p>
          <a:p>
            <a:pPr algn="ctr" indent="0" marL="0">
              <a:buNone/>
            </a:pPr>
            <a:r>
              <a:rPr lang="en-US" sz="1050" b="1" dirty="0">
                <a:solidFill>
                  <a:srgbClr val="23408E"/>
                </a:solidFill>
                <a:latin typeface="Calibri" pitchFamily="34" charset="0"/>
                <a:ea typeface="Calibri" pitchFamily="34" charset="-122"/>
                <a:cs typeface="Calibri" pitchFamily="34" charset="-120"/>
              </a:rPr>
              <a:t>(storage)</a:t>
            </a:r>
            <a:endParaRPr lang="en-US" sz="1050" dirty="0"/>
          </a:p>
        </p:txBody>
      </p:sp>
      <p:sp>
        <p:nvSpPr>
          <p:cNvPr id="16" name="Text 14"/>
          <p:cNvSpPr txBox="1"/>
          <p:nvPr/>
        </p:nvSpPr>
        <p:spPr>
          <a:xfrm>
            <a:off x="2651760" y="4206240"/>
            <a:ext cx="320040" cy="457200"/>
          </a:xfrm>
          <a:prstGeom prst="rect">
            <a:avLst/>
          </a:prstGeom>
          <a:noFill/>
          <a:ln/>
        </p:spPr>
        <p:txBody>
          <a:bodyPr wrap="square" lIns="0" tIns="0" rIns="0" bIns="0" rtlCol="0" anchor="ctr"/>
          <a:lstStyle/>
          <a:p>
            <a:pPr algn="ctr" indent="0" marL="0">
              <a:buNone/>
            </a:pPr>
            <a:r>
              <a:rPr lang="en-US" sz="1400" b="1" dirty="0">
                <a:solidFill>
                  <a:srgbClr val="9A241C"/>
                </a:solidFill>
                <a:latin typeface="Calibri" pitchFamily="34" charset="0"/>
                <a:ea typeface="Calibri" pitchFamily="34" charset="-122"/>
                <a:cs typeface="Calibri" pitchFamily="34" charset="-120"/>
              </a:rPr>
              <a:t>x</a:t>
            </a:r>
            <a:endParaRPr lang="en-US" sz="1400" dirty="0"/>
          </a:p>
        </p:txBody>
      </p:sp>
      <p:sp>
        <p:nvSpPr>
          <p:cNvPr id="17" name="Shape 15"/>
          <p:cNvSpPr/>
          <p:nvPr/>
        </p:nvSpPr>
        <p:spPr>
          <a:xfrm>
            <a:off x="2971800" y="4133088"/>
            <a:ext cx="1874520" cy="594360"/>
          </a:xfrm>
          <a:prstGeom prst="roundRect">
            <a:avLst>
              <a:gd name="adj" fmla="val 12308"/>
            </a:avLst>
          </a:prstGeom>
          <a:solidFill>
            <a:srgbClr val="FFFFFF"/>
          </a:solidFill>
          <a:ln w="12700">
            <a:solidFill>
              <a:srgbClr val="DAD5CB"/>
            </a:solidFill>
            <a:prstDash val="solid"/>
          </a:ln>
        </p:spPr>
      </p:sp>
      <p:sp>
        <p:nvSpPr>
          <p:cNvPr id="18" name="Text 16"/>
          <p:cNvSpPr txBox="1"/>
          <p:nvPr/>
        </p:nvSpPr>
        <p:spPr>
          <a:xfrm>
            <a:off x="2971800" y="4133088"/>
            <a:ext cx="1874520" cy="594360"/>
          </a:xfrm>
          <a:prstGeom prst="rect">
            <a:avLst/>
          </a:prstGeom>
          <a:noFill/>
          <a:ln/>
        </p:spPr>
        <p:txBody>
          <a:bodyPr wrap="square" lIns="0" tIns="0" rIns="0" bIns="0" rtlCol="0" anchor="ctr"/>
          <a:lstStyle/>
          <a:p>
            <a:pPr algn="ctr" indent="0" marL="0">
              <a:buNone/>
            </a:pPr>
            <a:r>
              <a:rPr lang="en-US" sz="1050" b="1" dirty="0">
                <a:solidFill>
                  <a:srgbClr val="23408E"/>
                </a:solidFill>
                <a:latin typeface="Calibri" pitchFamily="34" charset="0"/>
                <a:ea typeface="Calibri" pitchFamily="34" charset="-122"/>
                <a:cs typeface="Calibri" pitchFamily="34" charset="-120"/>
              </a:rPr>
              <a:t>MyPPSM</a:t>
            </a:r>
            <a:endParaRPr lang="en-US" sz="1050" dirty="0"/>
          </a:p>
          <a:p>
            <a:pPr algn="ctr" indent="0" marL="0">
              <a:buNone/>
            </a:pPr>
            <a:r>
              <a:rPr lang="en-US" sz="1050" b="1" dirty="0">
                <a:solidFill>
                  <a:srgbClr val="23408E"/>
                </a:solidFill>
                <a:latin typeface="Calibri" pitchFamily="34" charset="0"/>
                <a:ea typeface="Calibri" pitchFamily="34" charset="-122"/>
                <a:cs typeface="Calibri" pitchFamily="34" charset="-120"/>
              </a:rPr>
              <a:t>(HR circulars)</a:t>
            </a:r>
            <a:endParaRPr lang="en-US" sz="1050" dirty="0"/>
          </a:p>
        </p:txBody>
      </p:sp>
      <p:sp>
        <p:nvSpPr>
          <p:cNvPr id="19" name="Text 17"/>
          <p:cNvSpPr txBox="1"/>
          <p:nvPr/>
        </p:nvSpPr>
        <p:spPr>
          <a:xfrm>
            <a:off x="4846320" y="4206240"/>
            <a:ext cx="320040" cy="457200"/>
          </a:xfrm>
          <a:prstGeom prst="rect">
            <a:avLst/>
          </a:prstGeom>
          <a:noFill/>
          <a:ln/>
        </p:spPr>
        <p:txBody>
          <a:bodyPr wrap="square" lIns="0" tIns="0" rIns="0" bIns="0" rtlCol="0" anchor="ctr"/>
          <a:lstStyle/>
          <a:p>
            <a:pPr algn="ctr" indent="0" marL="0">
              <a:buNone/>
            </a:pPr>
            <a:r>
              <a:rPr lang="en-US" sz="1400" b="1" dirty="0">
                <a:solidFill>
                  <a:srgbClr val="9A241C"/>
                </a:solidFill>
                <a:latin typeface="Calibri" pitchFamily="34" charset="0"/>
                <a:ea typeface="Calibri" pitchFamily="34" charset="-122"/>
                <a:cs typeface="Calibri" pitchFamily="34" charset="-120"/>
              </a:rPr>
              <a:t>x</a:t>
            </a:r>
            <a:endParaRPr lang="en-US" sz="1400" dirty="0"/>
          </a:p>
        </p:txBody>
      </p:sp>
      <p:sp>
        <p:nvSpPr>
          <p:cNvPr id="20" name="Shape 18"/>
          <p:cNvSpPr/>
          <p:nvPr/>
        </p:nvSpPr>
        <p:spPr>
          <a:xfrm>
            <a:off x="5166360" y="4133088"/>
            <a:ext cx="1874520" cy="594360"/>
          </a:xfrm>
          <a:prstGeom prst="roundRect">
            <a:avLst>
              <a:gd name="adj" fmla="val 12308"/>
            </a:avLst>
          </a:prstGeom>
          <a:solidFill>
            <a:srgbClr val="FFFFFF"/>
          </a:solidFill>
          <a:ln w="12700">
            <a:solidFill>
              <a:srgbClr val="DAD5CB"/>
            </a:solidFill>
            <a:prstDash val="solid"/>
          </a:ln>
        </p:spPr>
      </p:sp>
      <p:sp>
        <p:nvSpPr>
          <p:cNvPr id="21" name="Text 19"/>
          <p:cNvSpPr txBox="1"/>
          <p:nvPr/>
        </p:nvSpPr>
        <p:spPr>
          <a:xfrm>
            <a:off x="5166360" y="4133088"/>
            <a:ext cx="1874520" cy="594360"/>
          </a:xfrm>
          <a:prstGeom prst="rect">
            <a:avLst/>
          </a:prstGeom>
          <a:noFill/>
          <a:ln/>
        </p:spPr>
        <p:txBody>
          <a:bodyPr wrap="square" lIns="0" tIns="0" rIns="0" bIns="0" rtlCol="0" anchor="ctr"/>
          <a:lstStyle/>
          <a:p>
            <a:pPr algn="ctr" indent="0" marL="0">
              <a:buNone/>
            </a:pPr>
            <a:r>
              <a:rPr lang="en-US" sz="1050" b="1" dirty="0">
                <a:solidFill>
                  <a:srgbClr val="23408E"/>
                </a:solidFill>
                <a:latin typeface="Calibri" pitchFamily="34" charset="0"/>
                <a:ea typeface="Calibri" pitchFamily="34" charset="-122"/>
                <a:cs typeface="Calibri" pitchFamily="34" charset="-120"/>
              </a:rPr>
              <a:t>Treasury</a:t>
            </a:r>
            <a:endParaRPr lang="en-US" sz="1050" dirty="0"/>
          </a:p>
          <a:p>
            <a:pPr algn="ctr" indent="0" marL="0">
              <a:buNone/>
            </a:pPr>
            <a:r>
              <a:rPr lang="en-US" sz="1050" b="1" dirty="0">
                <a:solidFill>
                  <a:srgbClr val="23408E"/>
                </a:solidFill>
                <a:latin typeface="Calibri" pitchFamily="34" charset="0"/>
                <a:ea typeface="Calibri" pitchFamily="34" charset="-122"/>
                <a:cs typeface="Calibri" pitchFamily="34" charset="-120"/>
              </a:rPr>
              <a:t>circulars</a:t>
            </a:r>
            <a:endParaRPr lang="en-US" sz="1050" dirty="0"/>
          </a:p>
        </p:txBody>
      </p:sp>
      <p:sp>
        <p:nvSpPr>
          <p:cNvPr id="22" name="Text 20"/>
          <p:cNvSpPr txBox="1"/>
          <p:nvPr/>
        </p:nvSpPr>
        <p:spPr>
          <a:xfrm>
            <a:off x="7040880" y="4206240"/>
            <a:ext cx="320040" cy="457200"/>
          </a:xfrm>
          <a:prstGeom prst="rect">
            <a:avLst/>
          </a:prstGeom>
          <a:noFill/>
          <a:ln/>
        </p:spPr>
        <p:txBody>
          <a:bodyPr wrap="square" lIns="0" tIns="0" rIns="0" bIns="0" rtlCol="0" anchor="ctr"/>
          <a:lstStyle/>
          <a:p>
            <a:pPr algn="ctr" indent="0" marL="0">
              <a:buNone/>
            </a:pPr>
            <a:r>
              <a:rPr lang="en-US" sz="1400" b="1" dirty="0">
                <a:solidFill>
                  <a:srgbClr val="9A241C"/>
                </a:solidFill>
                <a:latin typeface="Calibri" pitchFamily="34" charset="0"/>
                <a:ea typeface="Calibri" pitchFamily="34" charset="-122"/>
                <a:cs typeface="Calibri" pitchFamily="34" charset="-120"/>
              </a:rPr>
              <a:t>x</a:t>
            </a:r>
            <a:endParaRPr lang="en-US" sz="1400" dirty="0"/>
          </a:p>
        </p:txBody>
      </p:sp>
      <p:sp>
        <p:nvSpPr>
          <p:cNvPr id="23" name="Shape 21"/>
          <p:cNvSpPr/>
          <p:nvPr/>
        </p:nvSpPr>
        <p:spPr>
          <a:xfrm>
            <a:off x="7360920" y="4133088"/>
            <a:ext cx="1874520" cy="594360"/>
          </a:xfrm>
          <a:prstGeom prst="roundRect">
            <a:avLst>
              <a:gd name="adj" fmla="val 12308"/>
            </a:avLst>
          </a:prstGeom>
          <a:solidFill>
            <a:srgbClr val="FFFFFF"/>
          </a:solidFill>
          <a:ln w="12700">
            <a:solidFill>
              <a:srgbClr val="DAD5CB"/>
            </a:solidFill>
            <a:prstDash val="solid"/>
          </a:ln>
        </p:spPr>
      </p:sp>
      <p:sp>
        <p:nvSpPr>
          <p:cNvPr id="24" name="Text 22"/>
          <p:cNvSpPr txBox="1"/>
          <p:nvPr/>
        </p:nvSpPr>
        <p:spPr>
          <a:xfrm>
            <a:off x="7360920" y="4133088"/>
            <a:ext cx="1874520" cy="594360"/>
          </a:xfrm>
          <a:prstGeom prst="rect">
            <a:avLst/>
          </a:prstGeom>
          <a:noFill/>
          <a:ln/>
        </p:spPr>
        <p:txBody>
          <a:bodyPr wrap="square" lIns="0" tIns="0" rIns="0" bIns="0" rtlCol="0" anchor="ctr"/>
          <a:lstStyle/>
          <a:p>
            <a:pPr algn="ctr" indent="0" marL="0">
              <a:buNone/>
            </a:pPr>
            <a:r>
              <a:rPr lang="en-US" sz="1050" b="1" dirty="0">
                <a:solidFill>
                  <a:srgbClr val="23408E"/>
                </a:solidFill>
                <a:latin typeface="Calibri" pitchFamily="34" charset="0"/>
                <a:ea typeface="Calibri" pitchFamily="34" charset="-122"/>
                <a:cs typeface="Calibri" pitchFamily="34" charset="-120"/>
              </a:rPr>
              <a:t>Sarawak</a:t>
            </a:r>
            <a:endParaRPr lang="en-US" sz="1050" dirty="0"/>
          </a:p>
          <a:p>
            <a:pPr algn="ctr" indent="0" marL="0">
              <a:buNone/>
            </a:pPr>
            <a:r>
              <a:rPr lang="en-US" sz="1050" b="1" dirty="0">
                <a:solidFill>
                  <a:srgbClr val="23408E"/>
                </a:solidFill>
                <a:latin typeface="Calibri" pitchFamily="34" charset="0"/>
                <a:ea typeface="Calibri" pitchFamily="34" charset="-122"/>
                <a:cs typeface="Calibri" pitchFamily="34" charset="-120"/>
              </a:rPr>
              <a:t>eCircular</a:t>
            </a:r>
            <a:endParaRPr lang="en-US" sz="1050" dirty="0"/>
          </a:p>
        </p:txBody>
      </p:sp>
      <p:sp>
        <p:nvSpPr>
          <p:cNvPr id="25" name="Text 23"/>
          <p:cNvSpPr txBox="1"/>
          <p:nvPr/>
        </p:nvSpPr>
        <p:spPr>
          <a:xfrm>
            <a:off x="9235440" y="4206240"/>
            <a:ext cx="320040" cy="457200"/>
          </a:xfrm>
          <a:prstGeom prst="rect">
            <a:avLst/>
          </a:prstGeom>
          <a:noFill/>
          <a:ln/>
        </p:spPr>
        <p:txBody>
          <a:bodyPr wrap="square" lIns="0" tIns="0" rIns="0" bIns="0" rtlCol="0" anchor="ctr"/>
          <a:lstStyle/>
          <a:p>
            <a:pPr algn="ctr" indent="0" marL="0">
              <a:buNone/>
            </a:pPr>
            <a:r>
              <a:rPr lang="en-US" sz="1400" b="1" dirty="0">
                <a:solidFill>
                  <a:srgbClr val="9A241C"/>
                </a:solidFill>
                <a:latin typeface="Calibri" pitchFamily="34" charset="0"/>
                <a:ea typeface="Calibri" pitchFamily="34" charset="-122"/>
                <a:cs typeface="Calibri" pitchFamily="34" charset="-120"/>
              </a:rPr>
              <a:t>x</a:t>
            </a:r>
            <a:endParaRPr lang="en-US" sz="1400" dirty="0"/>
          </a:p>
        </p:txBody>
      </p:sp>
      <p:sp>
        <p:nvSpPr>
          <p:cNvPr id="26" name="Shape 24"/>
          <p:cNvSpPr/>
          <p:nvPr/>
        </p:nvSpPr>
        <p:spPr>
          <a:xfrm>
            <a:off x="9555480" y="4133088"/>
            <a:ext cx="1874520" cy="594360"/>
          </a:xfrm>
          <a:prstGeom prst="roundRect">
            <a:avLst>
              <a:gd name="adj" fmla="val 12308"/>
            </a:avLst>
          </a:prstGeom>
          <a:solidFill>
            <a:srgbClr val="FFFFFF"/>
          </a:solidFill>
          <a:ln w="12700">
            <a:solidFill>
              <a:srgbClr val="DAD5CB"/>
            </a:solidFill>
            <a:prstDash val="solid"/>
          </a:ln>
        </p:spPr>
      </p:sp>
      <p:sp>
        <p:nvSpPr>
          <p:cNvPr id="27" name="Text 25"/>
          <p:cNvSpPr txBox="1"/>
          <p:nvPr/>
        </p:nvSpPr>
        <p:spPr>
          <a:xfrm>
            <a:off x="9555480" y="4133088"/>
            <a:ext cx="1874520" cy="594360"/>
          </a:xfrm>
          <a:prstGeom prst="rect">
            <a:avLst/>
          </a:prstGeom>
          <a:noFill/>
          <a:ln/>
        </p:spPr>
        <p:txBody>
          <a:bodyPr wrap="square" lIns="0" tIns="0" rIns="0" bIns="0" rtlCol="0" anchor="ctr"/>
          <a:lstStyle/>
          <a:p>
            <a:pPr algn="ctr" indent="0" marL="0">
              <a:buNone/>
            </a:pPr>
            <a:r>
              <a:rPr lang="en-US" sz="1050" b="1" dirty="0">
                <a:solidFill>
                  <a:srgbClr val="23408E"/>
                </a:solidFill>
                <a:latin typeface="Calibri" pitchFamily="34" charset="0"/>
                <a:ea typeface="Calibri" pitchFamily="34" charset="-122"/>
                <a:cs typeface="Calibri" pitchFamily="34" charset="-120"/>
              </a:rPr>
              <a:t>AI at Work</a:t>
            </a:r>
            <a:endParaRPr lang="en-US" sz="1050" dirty="0"/>
          </a:p>
          <a:p>
            <a:pPr algn="ctr" indent="0" marL="0">
              <a:buNone/>
            </a:pPr>
            <a:r>
              <a:rPr lang="en-US" sz="1050" b="1" dirty="0">
                <a:solidFill>
                  <a:srgbClr val="23408E"/>
                </a:solidFill>
                <a:latin typeface="Calibri" pitchFamily="34" charset="0"/>
                <a:ea typeface="Calibri" pitchFamily="34" charset="-122"/>
                <a:cs typeface="Calibri" pitchFamily="34" charset="-120"/>
              </a:rPr>
              <a:t>(general AI)</a:t>
            </a:r>
            <a:endParaRPr lang="en-US" sz="1050" dirty="0"/>
          </a:p>
        </p:txBody>
      </p:sp>
      <p:sp>
        <p:nvSpPr>
          <p:cNvPr id="28" name="Text 26"/>
          <p:cNvSpPr txBox="1"/>
          <p:nvPr/>
        </p:nvSpPr>
        <p:spPr>
          <a:xfrm>
            <a:off x="6675120" y="3767328"/>
            <a:ext cx="4846320" cy="320040"/>
          </a:xfrm>
          <a:prstGeom prst="rect">
            <a:avLst/>
          </a:prstGeom>
          <a:noFill/>
          <a:ln/>
        </p:spPr>
        <p:txBody>
          <a:bodyPr wrap="square" lIns="0" tIns="0" rIns="0" bIns="0" rtlCol="0" anchor="ctr"/>
          <a:lstStyle/>
          <a:p>
            <a:pPr algn="r" indent="0" marL="0">
              <a:buNone/>
            </a:pPr>
            <a:r>
              <a:rPr lang="en-US" sz="1200" i="1" dirty="0">
                <a:solidFill>
                  <a:srgbClr val="5D636B"/>
                </a:solidFill>
                <a:latin typeface="Calibri" pitchFamily="34" charset="0"/>
                <a:ea typeface="Calibri" pitchFamily="34" charset="-122"/>
                <a:cs typeface="Calibri" pitchFamily="34" charset="-120"/>
              </a:rPr>
              <a:t>None of them answers: is this rule still valid, and what replaced it?</a:t>
            </a:r>
            <a:endParaRPr lang="en-US" sz="1200" dirty="0"/>
          </a:p>
        </p:txBody>
      </p:sp>
      <p:sp>
        <p:nvSpPr>
          <p:cNvPr id="29" name="Shape 27"/>
          <p:cNvSpPr/>
          <p:nvPr/>
        </p:nvSpPr>
        <p:spPr>
          <a:xfrm>
            <a:off x="548640" y="5029200"/>
            <a:ext cx="11064240" cy="1188720"/>
          </a:xfrm>
          <a:prstGeom prst="roundRect">
            <a:avLst>
              <a:gd name="adj" fmla="val 9231"/>
            </a:avLst>
          </a:prstGeom>
          <a:solidFill>
            <a:srgbClr val="FAEDD0"/>
          </a:solidFill>
          <a:ln w="12700">
            <a:solidFill>
              <a:srgbClr val="FAEDD0"/>
            </a:solidFill>
            <a:prstDash val="solid"/>
          </a:ln>
        </p:spPr>
      </p:sp>
      <p:sp>
        <p:nvSpPr>
          <p:cNvPr id="30" name="Text 28"/>
          <p:cNvSpPr txBox="1"/>
          <p:nvPr/>
        </p:nvSpPr>
        <p:spPr>
          <a:xfrm>
            <a:off x="731520" y="5102352"/>
            <a:ext cx="3657600" cy="320040"/>
          </a:xfrm>
          <a:prstGeom prst="rect">
            <a:avLst/>
          </a:prstGeom>
          <a:noFill/>
          <a:ln/>
        </p:spPr>
        <p:txBody>
          <a:bodyPr wrap="square" lIns="0" tIns="0" rIns="0" bIns="0" rtlCol="0" anchor="ctr"/>
          <a:lstStyle/>
          <a:p>
            <a:pPr indent="0" marL="0">
              <a:buNone/>
            </a:pPr>
            <a:r>
              <a:rPr lang="en-US" sz="1300" b="1" dirty="0">
                <a:solidFill>
                  <a:srgbClr val="7A4F00"/>
                </a:solidFill>
                <a:latin typeface="Calibri" pitchFamily="34" charset="0"/>
                <a:ea typeface="Calibri" pitchFamily="34" charset="-122"/>
                <a:cs typeface="Calibri" pitchFamily="34" charset="-120"/>
              </a:rPr>
              <a:t>Why it's urgent</a:t>
            </a:r>
            <a:endParaRPr lang="en-US" sz="1300" dirty="0"/>
          </a:p>
        </p:txBody>
      </p:sp>
      <p:sp>
        <p:nvSpPr>
          <p:cNvPr id="31" name="Text 29"/>
          <p:cNvSpPr txBox="1"/>
          <p:nvPr/>
        </p:nvSpPr>
        <p:spPr>
          <a:xfrm>
            <a:off x="731520" y="5440680"/>
            <a:ext cx="10698480" cy="731520"/>
          </a:xfrm>
          <a:prstGeom prst="rect">
            <a:avLst/>
          </a:prstGeom>
          <a:noFill/>
          <a:ln/>
        </p:spPr>
        <p:txBody>
          <a:bodyPr wrap="square" lIns="0" tIns="0" rIns="0" bIns="0" rtlCol="0" anchor="t"/>
          <a:lstStyle/>
          <a:p>
            <a:pPr indent="0" marL="0">
              <a:buNone/>
            </a:pPr>
            <a:r>
              <a:rPr lang="en-US" sz="1250" b="1" dirty="0">
                <a:solidFill>
                  <a:srgbClr val="1A1D21"/>
                </a:solidFill>
                <a:latin typeface="Calibri" pitchFamily="34" charset="0"/>
                <a:ea typeface="Calibri" pitchFamily="34" charset="-122"/>
                <a:cs typeface="Calibri" pitchFamily="34" charset="-120"/>
              </a:rPr>
              <a:t>JPA is reviewing circulars older than 20 years </a:t>
            </a:r>
            <a:pPr indent="0" marL="0">
              <a:buNone/>
            </a:pPr>
            <a:r>
              <a:rPr lang="en-US" sz="1250" dirty="0">
                <a:solidFill>
                  <a:srgbClr val="1A1D21"/>
                </a:solidFill>
                <a:latin typeface="Calibri" pitchFamily="34" charset="0"/>
                <a:ea typeface="Calibri" pitchFamily="34" charset="-122"/>
                <a:cs typeface="Calibri" pitchFamily="34" charset="-120"/>
              </a:rPr>
              <a:t>and Act 867 (2025) requires reviews every 3 years: rules will change more often.   </a:t>
            </a:r>
            <a:pPr indent="0" marL="0">
              <a:buNone/>
            </a:pPr>
            <a:r>
              <a:rPr lang="en-US" sz="1250" b="1" dirty="0">
                <a:solidFill>
                  <a:srgbClr val="1A1D21"/>
                </a:solidFill>
                <a:latin typeface="Calibri" pitchFamily="34" charset="0"/>
                <a:ea typeface="Calibri" pitchFamily="34" charset="-122"/>
                <a:cs typeface="Calibri" pitchFamily="34" charset="-120"/>
              </a:rPr>
              <a:t>The MyGov chatbot was shut down in Aug 2025 </a:t>
            </a:r>
            <a:pPr indent="0" marL="0">
              <a:buNone/>
            </a:pPr>
            <a:r>
              <a:rPr lang="en-US" sz="1250" dirty="0">
                <a:solidFill>
                  <a:srgbClr val="1A1D21"/>
                </a:solidFill>
                <a:latin typeface="Calibri" pitchFamily="34" charset="0"/>
                <a:ea typeface="Calibri" pitchFamily="34" charset="-122"/>
                <a:cs typeface="Calibri" pitchFamily="34" charset="-120"/>
              </a:rPr>
              <a:t>after giving nonsense answers: ungrounded AI fails in government.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65760"/>
          </a:xfrm>
          <a:prstGeom prst="rect">
            <a:avLst/>
          </a:prstGeom>
          <a:noFill/>
          <a:ln/>
        </p:spPr>
        <p:txBody>
          <a:bodyPr wrap="square" lIns="0" tIns="0" rIns="0" bIns="0" rtlCol="0" anchor="ctr"/>
          <a:lstStyle/>
          <a:p>
            <a:pPr indent="0" marL="0">
              <a:buNone/>
            </a:pPr>
            <a:r>
              <a:rPr lang="en-US" sz="1600" b="1" dirty="0">
                <a:solidFill>
                  <a:srgbClr val="2F6BD9"/>
                </a:solidFill>
                <a:latin typeface="Calibri" pitchFamily="34" charset="0"/>
                <a:ea typeface="Calibri" pitchFamily="34" charset="-122"/>
                <a:cs typeface="Calibri" pitchFamily="34" charset="-120"/>
              </a:rPr>
              <a:t>03   </a:t>
            </a:r>
            <a:pPr indent="0" marL="0">
              <a:buNone/>
            </a:pPr>
            <a:r>
              <a:rPr lang="en-US" sz="1600" b="1" dirty="0">
                <a:solidFill>
                  <a:srgbClr val="1A1D21"/>
                </a:solidFill>
                <a:latin typeface="Calibri" pitchFamily="34" charset="0"/>
                <a:ea typeface="Calibri" pitchFamily="34" charset="-122"/>
                <a:cs typeface="Calibri" pitchFamily="34" charset="-120"/>
              </a:rPr>
              <a:t>Our Solution</a:t>
            </a:r>
            <a:endParaRPr lang="en-US" sz="1600" dirty="0"/>
          </a:p>
        </p:txBody>
      </p:sp>
      <p:sp>
        <p:nvSpPr>
          <p:cNvPr id="3" name="Text 1"/>
          <p:cNvSpPr txBox="1"/>
          <p:nvPr/>
        </p:nvSpPr>
        <p:spPr>
          <a:xfrm>
            <a:off x="9692640" y="6355080"/>
            <a:ext cx="2194560" cy="274320"/>
          </a:xfrm>
          <a:prstGeom prst="rect">
            <a:avLst/>
          </a:prstGeom>
          <a:noFill/>
          <a:ln/>
        </p:spPr>
        <p:txBody>
          <a:bodyPr wrap="square" lIns="0" tIns="0" rIns="0" bIns="0" rtlCol="0" anchor="ctr"/>
          <a:lstStyle/>
          <a:p>
            <a:pPr algn="r" indent="0" marL="0">
              <a:buNone/>
            </a:pPr>
            <a:r>
              <a:rPr lang="en-US" sz="1200" b="1" dirty="0">
                <a:solidFill>
                  <a:srgbClr val="23408E"/>
                </a:solidFill>
                <a:latin typeface="Cambria" pitchFamily="34" charset="0"/>
                <a:ea typeface="Cambria" pitchFamily="34" charset="-122"/>
                <a:cs typeface="Cambria" pitchFamily="34" charset="-120"/>
              </a:rPr>
              <a:t>MixUp Navigator</a:t>
            </a:r>
            <a:endParaRPr lang="en-US" sz="1200" dirty="0"/>
          </a:p>
        </p:txBody>
      </p:sp>
      <p:sp>
        <p:nvSpPr>
          <p:cNvPr id="4" name="Text 2"/>
          <p:cNvSpPr txBox="1"/>
          <p:nvPr/>
        </p:nvSpPr>
        <p:spPr>
          <a:xfrm>
            <a:off x="548640" y="777240"/>
            <a:ext cx="11064240" cy="822960"/>
          </a:xfrm>
          <a:prstGeom prst="rect">
            <a:avLst/>
          </a:prstGeom>
          <a:noFill/>
          <a:ln/>
        </p:spPr>
        <p:txBody>
          <a:bodyPr wrap="square" lIns="0" tIns="0" rIns="0" bIns="0" rtlCol="0" anchor="t"/>
          <a:lstStyle/>
          <a:p>
            <a:pPr indent="0" marL="0">
              <a:buNone/>
            </a:pPr>
            <a:r>
              <a:rPr lang="en-US" sz="3000" b="1" dirty="0">
                <a:solidFill>
                  <a:srgbClr val="16232A"/>
                </a:solidFill>
                <a:latin typeface="Cambria" pitchFamily="34" charset="0"/>
                <a:ea typeface="Cambria" pitchFamily="34" charset="-122"/>
                <a:cs typeface="Cambria" pitchFamily="34" charset="-120"/>
              </a:rPr>
              <a:t>Ask. Check validity. Cite. Every screen is our working prototype.</a:t>
            </a:r>
            <a:endParaRPr lang="en-US" sz="3000" dirty="0"/>
          </a:p>
        </p:txBody>
      </p:sp>
      <p:sp>
        <p:nvSpPr>
          <p:cNvPr id="5" name="Text 3"/>
          <p:cNvSpPr txBox="1"/>
          <p:nvPr/>
        </p:nvSpPr>
        <p:spPr>
          <a:xfrm>
            <a:off x="548640" y="1600200"/>
            <a:ext cx="11064240" cy="457200"/>
          </a:xfrm>
          <a:prstGeom prst="rect">
            <a:avLst/>
          </a:prstGeom>
          <a:noFill/>
          <a:ln/>
        </p:spPr>
        <p:txBody>
          <a:bodyPr wrap="square" lIns="0" tIns="0" rIns="0" bIns="0" rtlCol="0" anchor="ctr"/>
          <a:lstStyle/>
          <a:p>
            <a:pPr indent="0" marL="0">
              <a:buNone/>
            </a:pPr>
            <a:r>
              <a:rPr lang="en-US" sz="1500" dirty="0">
                <a:solidFill>
                  <a:srgbClr val="5D636B"/>
                </a:solidFill>
                <a:latin typeface="Calibri" pitchFamily="34" charset="0"/>
                <a:ea typeface="Calibri" pitchFamily="34" charset="-122"/>
                <a:cs typeface="Calibri" pitchFamily="34" charset="-120"/>
              </a:rPr>
              <a:t>One journey for every officer, in BM or English, fully offline.</a:t>
            </a:r>
            <a:endParaRPr lang="en-US" sz="1500" dirty="0"/>
          </a:p>
        </p:txBody>
      </p:sp>
      <p:sp>
        <p:nvSpPr>
          <p:cNvPr id="6" name="Shape 4"/>
          <p:cNvSpPr/>
          <p:nvPr/>
        </p:nvSpPr>
        <p:spPr>
          <a:xfrm>
            <a:off x="493776" y="2185416"/>
            <a:ext cx="3630168" cy="2304288"/>
          </a:xfrm>
          <a:prstGeom prst="roundRect">
            <a:avLst>
              <a:gd name="adj" fmla="val 3968"/>
            </a:avLst>
          </a:prstGeom>
          <a:solidFill>
            <a:srgbClr val="16232A"/>
          </a:solidFill>
          <a:ln w="12700">
            <a:solidFill>
              <a:srgbClr val="16232A"/>
            </a:solidFill>
            <a:prstDash val="solid"/>
          </a:ln>
        </p:spPr>
      </p:sp>
      <p:pic>
        <p:nvPicPr>
          <p:cNvPr id="7" name="Image 0" descr="/tmp/claude-0/-home-user-AWS-Kuching-Community-Day/d7fbe435-6e05-5d7a-a23e-e545bdd3a836/scratchpad/smoke/01-ask-trap.png">    </p:cNvPr>
          <p:cNvPicPr>
            <a:picLocks noChangeAspect="1"/>
          </p:cNvPicPr>
          <p:nvPr/>
        </p:nvPicPr>
        <p:blipFill>
          <a:blip r:embed="rId1"/>
          <a:srcRect l="0" r="0" t="0" b="0"/>
          <a:stretch/>
        </p:blipFill>
        <p:spPr>
          <a:xfrm>
            <a:off x="548640" y="2240280"/>
            <a:ext cx="3520440" cy="2194560"/>
          </a:xfrm>
          <a:prstGeom prst="rect">
            <a:avLst/>
          </a:prstGeom>
        </p:spPr>
      </p:pic>
      <p:sp>
        <p:nvSpPr>
          <p:cNvPr id="8" name="Text 5"/>
          <p:cNvSpPr txBox="1"/>
          <p:nvPr/>
        </p:nvSpPr>
        <p:spPr>
          <a:xfrm>
            <a:off x="548640" y="4526280"/>
            <a:ext cx="3520440" cy="685800"/>
          </a:xfrm>
          <a:prstGeom prst="rect">
            <a:avLst/>
          </a:prstGeom>
          <a:noFill/>
          <a:ln/>
        </p:spPr>
        <p:txBody>
          <a:bodyPr wrap="square" lIns="0" tIns="0" rIns="0" bIns="0" rtlCol="0" anchor="t"/>
          <a:lstStyle/>
          <a:p>
            <a:pPr indent="0" marL="0">
              <a:buNone/>
            </a:pPr>
            <a:r>
              <a:rPr lang="en-US" sz="1150" dirty="0">
                <a:solidFill>
                  <a:srgbClr val="1A1D21"/>
                </a:solidFill>
                <a:latin typeface="Calibri" pitchFamily="34" charset="0"/>
                <a:ea typeface="Calibri" pitchFamily="34" charset="-122"/>
                <a:cs typeface="Calibri" pitchFamily="34" charset="-120"/>
              </a:rPr>
              <a:t>1. Ask and check validity</a:t>
            </a:r>
            <a:endParaRPr lang="en-US" sz="1150" dirty="0"/>
          </a:p>
          <a:p>
            <a:pPr indent="0" marL="0">
              <a:buNone/>
            </a:pPr>
            <a:r>
              <a:rPr lang="en-US" sz="1150" dirty="0">
                <a:solidFill>
                  <a:srgbClr val="1A1D21"/>
                </a:solidFill>
                <a:latin typeface="Calibri" pitchFamily="34" charset="0"/>
                <a:ea typeface="Calibri" pitchFamily="34" charset="-122"/>
                <a:cs typeface="Calibri" pitchFamily="34" charset="-120"/>
              </a:rPr>
              <a:t>The mileage question is answered from SPP 2/2025 [S1]. The cancelled SPP 3/2019 is listed under Dikecualikan, never quoted.</a:t>
            </a:r>
            <a:endParaRPr lang="en-US" sz="1150" dirty="0"/>
          </a:p>
        </p:txBody>
      </p:sp>
      <p:sp>
        <p:nvSpPr>
          <p:cNvPr id="9" name="Shape 6"/>
          <p:cNvSpPr/>
          <p:nvPr/>
        </p:nvSpPr>
        <p:spPr>
          <a:xfrm>
            <a:off x="4279392" y="2185416"/>
            <a:ext cx="3630168" cy="2304288"/>
          </a:xfrm>
          <a:prstGeom prst="roundRect">
            <a:avLst>
              <a:gd name="adj" fmla="val 3968"/>
            </a:avLst>
          </a:prstGeom>
          <a:solidFill>
            <a:srgbClr val="16232A"/>
          </a:solidFill>
          <a:ln w="12700">
            <a:solidFill>
              <a:srgbClr val="16232A"/>
            </a:solidFill>
            <a:prstDash val="solid"/>
          </a:ln>
        </p:spPr>
      </p:sp>
      <p:pic>
        <p:nvPicPr>
          <p:cNvPr id="10" name="Image 1" descr="/tmp/claude-0/-home-user-AWS-Kuching-Community-Day/d7fbe435-6e05-5d7a-a23e-e545bdd3a836/scratchpad/smoke/tab-Salasilah.png">    </p:cNvPr>
          <p:cNvPicPr>
            <a:picLocks noChangeAspect="1"/>
          </p:cNvPicPr>
          <p:nvPr/>
        </p:nvPicPr>
        <p:blipFill>
          <a:blip r:embed="rId2"/>
          <a:srcRect l="0" r="0" t="0" b="0"/>
          <a:stretch/>
        </p:blipFill>
        <p:spPr>
          <a:xfrm>
            <a:off x="4334256" y="2240280"/>
            <a:ext cx="3520440" cy="2194560"/>
          </a:xfrm>
          <a:prstGeom prst="rect">
            <a:avLst/>
          </a:prstGeom>
        </p:spPr>
      </p:pic>
      <p:sp>
        <p:nvSpPr>
          <p:cNvPr id="11" name="Text 7"/>
          <p:cNvSpPr txBox="1"/>
          <p:nvPr/>
        </p:nvSpPr>
        <p:spPr>
          <a:xfrm>
            <a:off x="4334256" y="4526280"/>
            <a:ext cx="3520440" cy="685800"/>
          </a:xfrm>
          <a:prstGeom prst="rect">
            <a:avLst/>
          </a:prstGeom>
          <a:noFill/>
          <a:ln/>
        </p:spPr>
        <p:txBody>
          <a:bodyPr wrap="square" lIns="0" tIns="0" rIns="0" bIns="0" rtlCol="0" anchor="t"/>
          <a:lstStyle/>
          <a:p>
            <a:pPr indent="0" marL="0">
              <a:buNone/>
            </a:pPr>
            <a:r>
              <a:rPr lang="en-US" sz="1150" dirty="0">
                <a:solidFill>
                  <a:srgbClr val="1A1D21"/>
                </a:solidFill>
                <a:latin typeface="Calibri" pitchFamily="34" charset="0"/>
                <a:ea typeface="Calibri" pitchFamily="34" charset="-122"/>
                <a:cs typeface="Calibri" pitchFamily="34" charset="-120"/>
              </a:rPr>
              <a:t>2. Lineage and what changed</a:t>
            </a:r>
            <a:endParaRPr lang="en-US" sz="1150" dirty="0"/>
          </a:p>
          <a:p>
            <a:pPr indent="0" marL="0">
              <a:buNone/>
            </a:pPr>
            <a:r>
              <a:rPr lang="en-US" sz="1150" dirty="0">
                <a:solidFill>
                  <a:srgbClr val="1A1D21"/>
                </a:solidFill>
                <a:latin typeface="Calibri" pitchFamily="34" charset="0"/>
                <a:ea typeface="Calibri" pitchFamily="34" charset="-122"/>
                <a:cs typeface="Calibri" pitchFamily="34" charset="-120"/>
              </a:rPr>
              <a:t>Salasilah 2019 -&gt; 2023 -&gt; 2025 shows who cancelled or amended what, with a plain BM/EN summary of the changes.</a:t>
            </a:r>
            <a:endParaRPr lang="en-US" sz="1150" dirty="0"/>
          </a:p>
        </p:txBody>
      </p:sp>
      <p:sp>
        <p:nvSpPr>
          <p:cNvPr id="12" name="Shape 8"/>
          <p:cNvSpPr/>
          <p:nvPr/>
        </p:nvSpPr>
        <p:spPr>
          <a:xfrm>
            <a:off x="8065008" y="2185416"/>
            <a:ext cx="3630168" cy="2304288"/>
          </a:xfrm>
          <a:prstGeom prst="roundRect">
            <a:avLst>
              <a:gd name="adj" fmla="val 3968"/>
            </a:avLst>
          </a:prstGeom>
          <a:solidFill>
            <a:srgbClr val="16232A"/>
          </a:solidFill>
          <a:ln w="12700">
            <a:solidFill>
              <a:srgbClr val="16232A"/>
            </a:solidFill>
            <a:prstDash val="solid"/>
          </a:ln>
        </p:spPr>
      </p:sp>
      <p:pic>
        <p:nvPicPr>
          <p:cNvPr id="13" name="Image 2" descr="/tmp/claude-0/-home-user-AWS-Kuching-Community-Day/d7fbe435-6e05-5d7a-a23e-e545bdd3a836/scratchpad/smoke/p5-tampered.png">    </p:cNvPr>
          <p:cNvPicPr>
            <a:picLocks noChangeAspect="1"/>
          </p:cNvPicPr>
          <p:nvPr/>
        </p:nvPicPr>
        <p:blipFill>
          <a:blip r:embed="rId3"/>
          <a:srcRect l="0" r="0" t="0" b="0"/>
          <a:stretch/>
        </p:blipFill>
        <p:spPr>
          <a:xfrm>
            <a:off x="8119872" y="2240280"/>
            <a:ext cx="3520440" cy="2194560"/>
          </a:xfrm>
          <a:prstGeom prst="rect">
            <a:avLst/>
          </a:prstGeom>
        </p:spPr>
      </p:pic>
      <p:sp>
        <p:nvSpPr>
          <p:cNvPr id="14" name="Text 9"/>
          <p:cNvSpPr txBox="1"/>
          <p:nvPr/>
        </p:nvSpPr>
        <p:spPr>
          <a:xfrm>
            <a:off x="8119872" y="4526280"/>
            <a:ext cx="3520440" cy="685800"/>
          </a:xfrm>
          <a:prstGeom prst="rect">
            <a:avLst/>
          </a:prstGeom>
          <a:noFill/>
          <a:ln/>
        </p:spPr>
        <p:txBody>
          <a:bodyPr wrap="square" lIns="0" tIns="0" rIns="0" bIns="0" rtlCol="0" anchor="t"/>
          <a:lstStyle/>
          <a:p>
            <a:pPr indent="0" marL="0">
              <a:buNone/>
            </a:pPr>
            <a:r>
              <a:rPr lang="en-US" sz="1150" dirty="0">
                <a:solidFill>
                  <a:srgbClr val="1A1D21"/>
                </a:solidFill>
                <a:latin typeface="Calibri" pitchFamily="34" charset="0"/>
                <a:ea typeface="Calibri" pitchFamily="34" charset="-122"/>
                <a:cs typeface="Calibri" pitchFamily="34" charset="-120"/>
              </a:rPr>
              <a:t>3. Signed updates</a:t>
            </a:r>
            <a:endParaRPr lang="en-US" sz="1150" dirty="0"/>
          </a:p>
          <a:p>
            <a:pPr indent="0" marL="0">
              <a:buNone/>
            </a:pPr>
            <a:r>
              <a:rPr lang="en-US" sz="1150" dirty="0">
                <a:solidFill>
                  <a:srgbClr val="1A1D21"/>
                </a:solidFill>
                <a:latin typeface="Calibri" pitchFamily="34" charset="0"/>
                <a:ea typeface="Calibri" pitchFamily="34" charset="-122"/>
                <a:cs typeface="Calibri" pitchFamily="34" charset="-120"/>
              </a:rPr>
              <a:t>The Publisher ships signed packs. A tampered pack fails the SHA-256 check and is rejected; the previous version stays active.</a:t>
            </a:r>
            <a:endParaRPr lang="en-US" sz="1150" dirty="0"/>
          </a:p>
        </p:txBody>
      </p:sp>
      <p:sp>
        <p:nvSpPr>
          <p:cNvPr id="15" name="Shape 10"/>
          <p:cNvSpPr/>
          <p:nvPr/>
        </p:nvSpPr>
        <p:spPr>
          <a:xfrm>
            <a:off x="548640" y="5440680"/>
            <a:ext cx="11064240" cy="731520"/>
          </a:xfrm>
          <a:prstGeom prst="roundRect">
            <a:avLst>
              <a:gd name="adj" fmla="val 15000"/>
            </a:avLst>
          </a:prstGeom>
          <a:solidFill>
            <a:srgbClr val="EEF1FA"/>
          </a:solidFill>
          <a:ln w="12700">
            <a:solidFill>
              <a:srgbClr val="EEF1FA"/>
            </a:solidFill>
            <a:prstDash val="solid"/>
          </a:ln>
        </p:spPr>
      </p:sp>
      <p:sp>
        <p:nvSpPr>
          <p:cNvPr id="16" name="Text 11"/>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250" b="1" dirty="0">
                <a:solidFill>
                  <a:srgbClr val="1A1D21"/>
                </a:solidFill>
                <a:latin typeface="Calibri" pitchFamily="34" charset="0"/>
                <a:ea typeface="Calibri" pitchFamily="34" charset="-122"/>
                <a:cs typeface="Calibri" pitchFamily="34" charset="-120"/>
              </a:rPr>
              <a:t>Officer app: </a:t>
            </a:r>
            <a:pPr indent="0" marL="0">
              <a:buNone/>
            </a:pPr>
            <a:r>
              <a:rPr lang="en-US" sz="1250" dirty="0">
                <a:solidFill>
                  <a:srgbClr val="1A1D21"/>
                </a:solidFill>
                <a:latin typeface="Calibri" pitchFamily="34" charset="0"/>
                <a:ea typeface="Calibri" pitchFamily="34" charset="-122"/>
                <a:cs typeface="Calibri" pitchFamily="34" charset="-120"/>
              </a:rPr>
              <a:t>ask, sources, lineage, updates.     </a:t>
            </a:r>
            <a:pPr indent="0" marL="0">
              <a:buNone/>
            </a:pPr>
            <a:r>
              <a:rPr lang="en-US" sz="1250" b="1" dirty="0">
                <a:solidFill>
                  <a:srgbClr val="1A1D21"/>
                </a:solidFill>
                <a:latin typeface="Calibri" pitchFamily="34" charset="0"/>
                <a:ea typeface="Calibri" pitchFamily="34" charset="-122"/>
                <a:cs typeface="Calibri" pitchFamily="34" charset="-120"/>
              </a:rPr>
              <a:t>Publisher console: </a:t>
            </a:r>
            <a:pPr indent="0" marL="0">
              <a:buNone/>
            </a:pPr>
            <a:r>
              <a:rPr lang="en-US" sz="1250" dirty="0">
                <a:solidFill>
                  <a:srgbClr val="1A1D21"/>
                </a:solidFill>
                <a:latin typeface="Calibri" pitchFamily="34" charset="0"/>
                <a:ea typeface="Calibri" pitchFamily="34" charset="-122"/>
                <a:cs typeface="Calibri" pitchFamily="34" charset="-120"/>
              </a:rPr>
              <a:t>upload, verify relations, build packs.     </a:t>
            </a:r>
            <a:pPr indent="0" marL="0">
              <a:buNone/>
            </a:pPr>
            <a:r>
              <a:rPr lang="en-US" sz="1250" b="1" dirty="0">
                <a:solidFill>
                  <a:srgbClr val="1A1D21"/>
                </a:solidFill>
                <a:latin typeface="Calibri" pitchFamily="34" charset="0"/>
                <a:ea typeface="Calibri" pitchFamily="34" charset="-122"/>
                <a:cs typeface="Calibri" pitchFamily="34" charset="-120"/>
              </a:rPr>
              <a:t>Validity engine underneath: </a:t>
            </a:r>
            <a:pPr indent="0" marL="0">
              <a:buNone/>
            </a:pPr>
            <a:r>
              <a:rPr lang="en-US" sz="1250" dirty="0">
                <a:solidFill>
                  <a:srgbClr val="1A1D21"/>
                </a:solidFill>
                <a:latin typeface="Calibri" pitchFamily="34" charset="0"/>
                <a:ea typeface="Calibri" pitchFamily="34" charset="-122"/>
                <a:cs typeface="Calibri" pitchFamily="34" charset="-120"/>
              </a:rPr>
              <a:t>statuses from verified relations only.</a:t>
            </a:r>
            <a:endParaRPr lang="en-US" sz="1250" dirty="0"/>
          </a:p>
        </p:txBody>
      </p:sp>
      <p:sp>
        <p:nvSpPr>
          <p:cNvPr id="17" name="Text 12"/>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50" dirty="0">
                <a:solidFill>
                  <a:srgbClr val="5D636B"/>
                </a:solidFill>
                <a:latin typeface="Calibri" pitchFamily="34" charset="0"/>
                <a:ea typeface="Calibri" pitchFamily="34" charset="-122"/>
                <a:cs typeface="Calibri" pitchFamily="34" charset="-120"/>
              </a:rPr>
              <a:t>All screens: MixUp Navigator prototype, synthetic circulars (SINTETIK - CONTOH SAHAJA).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65760"/>
          </a:xfrm>
          <a:prstGeom prst="rect">
            <a:avLst/>
          </a:prstGeom>
          <a:noFill/>
          <a:ln/>
        </p:spPr>
        <p:txBody>
          <a:bodyPr wrap="square" lIns="0" tIns="0" rIns="0" bIns="0" rtlCol="0" anchor="ctr"/>
          <a:lstStyle/>
          <a:p>
            <a:pPr indent="0" marL="0">
              <a:buNone/>
            </a:pPr>
            <a:r>
              <a:rPr lang="en-US" sz="1600" b="1" dirty="0">
                <a:solidFill>
                  <a:srgbClr val="2F6BD9"/>
                </a:solidFill>
                <a:latin typeface="Calibri" pitchFamily="34" charset="0"/>
                <a:ea typeface="Calibri" pitchFamily="34" charset="-122"/>
                <a:cs typeface="Calibri" pitchFamily="34" charset="-120"/>
              </a:rPr>
              <a:t>04   </a:t>
            </a:r>
            <a:pPr indent="0" marL="0">
              <a:buNone/>
            </a:pPr>
            <a:r>
              <a:rPr lang="en-US" sz="1600" b="1" dirty="0">
                <a:solidFill>
                  <a:srgbClr val="1A1D21"/>
                </a:solidFill>
                <a:latin typeface="Calibri" pitchFamily="34" charset="0"/>
                <a:ea typeface="Calibri" pitchFamily="34" charset="-122"/>
                <a:cs typeface="Calibri" pitchFamily="34" charset="-120"/>
              </a:rPr>
              <a:t>What Makes It Innovative?</a:t>
            </a:r>
            <a:endParaRPr lang="en-US" sz="1600" dirty="0"/>
          </a:p>
        </p:txBody>
      </p:sp>
      <p:sp>
        <p:nvSpPr>
          <p:cNvPr id="3" name="Text 1"/>
          <p:cNvSpPr txBox="1"/>
          <p:nvPr/>
        </p:nvSpPr>
        <p:spPr>
          <a:xfrm>
            <a:off x="9692640" y="6355080"/>
            <a:ext cx="2194560" cy="274320"/>
          </a:xfrm>
          <a:prstGeom prst="rect">
            <a:avLst/>
          </a:prstGeom>
          <a:noFill/>
          <a:ln/>
        </p:spPr>
        <p:txBody>
          <a:bodyPr wrap="square" lIns="0" tIns="0" rIns="0" bIns="0" rtlCol="0" anchor="ctr"/>
          <a:lstStyle/>
          <a:p>
            <a:pPr algn="r" indent="0" marL="0">
              <a:buNone/>
            </a:pPr>
            <a:r>
              <a:rPr lang="en-US" sz="1200" b="1" dirty="0">
                <a:solidFill>
                  <a:srgbClr val="23408E"/>
                </a:solidFill>
                <a:latin typeface="Cambria" pitchFamily="34" charset="0"/>
                <a:ea typeface="Cambria" pitchFamily="34" charset="-122"/>
                <a:cs typeface="Cambria" pitchFamily="34" charset="-120"/>
              </a:rPr>
              <a:t>MixUp Navigator</a:t>
            </a:r>
            <a:endParaRPr lang="en-US" sz="1200" dirty="0"/>
          </a:p>
        </p:txBody>
      </p:sp>
      <p:sp>
        <p:nvSpPr>
          <p:cNvPr id="4" name="Text 2"/>
          <p:cNvSpPr txBox="1"/>
          <p:nvPr/>
        </p:nvSpPr>
        <p:spPr>
          <a:xfrm>
            <a:off x="548640" y="777240"/>
            <a:ext cx="11064240" cy="822960"/>
          </a:xfrm>
          <a:prstGeom prst="rect">
            <a:avLst/>
          </a:prstGeom>
          <a:noFill/>
          <a:ln/>
        </p:spPr>
        <p:txBody>
          <a:bodyPr wrap="square" lIns="0" tIns="0" rIns="0" bIns="0" rtlCol="0" anchor="t"/>
          <a:lstStyle/>
          <a:p>
            <a:pPr indent="0" marL="0">
              <a:buNone/>
            </a:pPr>
            <a:r>
              <a:rPr lang="en-US" sz="3000" b="1" dirty="0">
                <a:solidFill>
                  <a:srgbClr val="16232A"/>
                </a:solidFill>
                <a:latin typeface="Cambria" pitchFamily="34" charset="0"/>
                <a:ea typeface="Cambria" pitchFamily="34" charset="-122"/>
                <a:cs typeface="Cambria" pitchFamily="34" charset="-120"/>
              </a:rPr>
              <a:t>Chatting with documents is table stakes. Validity is the gap.</a:t>
            </a:r>
            <a:endParaRPr lang="en-US" sz="3000" dirty="0"/>
          </a:p>
        </p:txBody>
      </p:sp>
      <p:sp>
        <p:nvSpPr>
          <p:cNvPr id="5" name="Text 3"/>
          <p:cNvSpPr txBox="1"/>
          <p:nvPr/>
        </p:nvSpPr>
        <p:spPr>
          <a:xfrm>
            <a:off x="548640" y="1600200"/>
            <a:ext cx="11064240" cy="457200"/>
          </a:xfrm>
          <a:prstGeom prst="rect">
            <a:avLst/>
          </a:prstGeom>
          <a:noFill/>
          <a:ln/>
        </p:spPr>
        <p:txBody>
          <a:bodyPr wrap="square" lIns="0" tIns="0" rIns="0" bIns="0" rtlCol="0" anchor="ctr"/>
          <a:lstStyle/>
          <a:p>
            <a:pPr indent="0" marL="0">
              <a:buNone/>
            </a:pPr>
            <a:r>
              <a:rPr lang="en-US" sz="1500" dirty="0">
                <a:solidFill>
                  <a:srgbClr val="5D636B"/>
                </a:solidFill>
                <a:latin typeface="Calibri" pitchFamily="34" charset="0"/>
                <a:ea typeface="Calibri" pitchFamily="34" charset="-122"/>
                <a:cs typeface="Calibri" pitchFamily="34" charset="-120"/>
              </a:rPr>
              <a:t>Gemini, NotebookLM, Copilot and Sarawak's ADAM AI already chat with documents. None, as far as public sources show, tracks which circular is still valid.</a:t>
            </a:r>
            <a:endParaRPr lang="en-US" sz="1500" dirty="0"/>
          </a:p>
        </p:txBody>
      </p:sp>
      <p:pic>
        <p:nvPicPr>
          <p:cNvPr id="6" name="Image 0" descr="/home/user/AWS-Kuching-Community-Day/docs/diagrams/03-keeping-rules-current.png">    </p:cNvPr>
          <p:cNvPicPr>
            <a:picLocks noChangeAspect="1"/>
          </p:cNvPicPr>
          <p:nvPr/>
        </p:nvPicPr>
        <p:blipFill>
          <a:blip r:embed="rId1"/>
          <a:stretch>
            <a:fillRect/>
          </a:stretch>
        </p:blipFill>
        <p:spPr>
          <a:xfrm>
            <a:off x="548640" y="2194560"/>
            <a:ext cx="6949440" cy="3913632"/>
          </a:xfrm>
          <a:prstGeom prst="rect">
            <a:avLst/>
          </a:prstGeom>
        </p:spPr>
      </p:pic>
      <p:sp>
        <p:nvSpPr>
          <p:cNvPr id="7" name="Shape 4"/>
          <p:cNvSpPr/>
          <p:nvPr/>
        </p:nvSpPr>
        <p:spPr>
          <a:xfrm>
            <a:off x="7726680" y="2194560"/>
            <a:ext cx="3886200" cy="713232"/>
          </a:xfrm>
          <a:prstGeom prst="roundRect">
            <a:avLst>
              <a:gd name="adj" fmla="val 15385"/>
            </a:avLst>
          </a:prstGeom>
          <a:solidFill>
            <a:srgbClr val="EEF1FA"/>
          </a:solidFill>
          <a:ln w="12700">
            <a:solidFill>
              <a:srgbClr val="EEF1FA"/>
            </a:solidFill>
            <a:prstDash val="solid"/>
          </a:ln>
        </p:spPr>
      </p:sp>
      <p:sp>
        <p:nvSpPr>
          <p:cNvPr id="8" name="Text 5"/>
          <p:cNvSpPr txBox="1"/>
          <p:nvPr/>
        </p:nvSpPr>
        <p:spPr>
          <a:xfrm>
            <a:off x="7909560" y="2331720"/>
            <a:ext cx="3520440" cy="365760"/>
          </a:xfrm>
          <a:prstGeom prst="rect">
            <a:avLst/>
          </a:prstGeom>
          <a:noFill/>
          <a:ln/>
        </p:spPr>
        <p:txBody>
          <a:bodyPr wrap="square" lIns="0" tIns="0" rIns="0" bIns="0" rtlCol="0" anchor="ctr"/>
          <a:lstStyle/>
          <a:p>
            <a:pPr indent="0" marL="0">
              <a:buNone/>
            </a:pPr>
            <a:r>
              <a:rPr lang="en-US" sz="1200" b="1" dirty="0">
                <a:solidFill>
                  <a:srgbClr val="16232A"/>
                </a:solidFill>
                <a:latin typeface="Calibri" pitchFamily="34" charset="0"/>
                <a:ea typeface="Calibri" pitchFamily="34" charset="-122"/>
                <a:cs typeface="Calibri" pitchFamily="34" charset="-120"/>
              </a:rPr>
              <a:t>Always-latest guard</a:t>
            </a:r>
            <a:endParaRPr lang="en-US" sz="1200" dirty="0"/>
          </a:p>
        </p:txBody>
      </p:sp>
      <p:sp>
        <p:nvSpPr>
          <p:cNvPr id="9" name="Text 6"/>
          <p:cNvSpPr txBox="1"/>
          <p:nvPr/>
        </p:nvSpPr>
        <p:spPr>
          <a:xfrm>
            <a:off x="7909560" y="2697480"/>
            <a:ext cx="3520440" cy="73152"/>
          </a:xfrm>
          <a:prstGeom prst="rect">
            <a:avLst/>
          </a:prstGeom>
          <a:noFill/>
          <a:ln/>
        </p:spPr>
        <p:txBody>
          <a:bodyPr wrap="square" lIns="0" tIns="0" rIns="0" bIns="0" rtlCol="0" anchor="t"/>
          <a:lstStyle/>
          <a:p>
            <a:pPr indent="0" marL="0">
              <a:buNone/>
            </a:pPr>
            <a:r>
              <a:rPr lang="en-US" sz="950" dirty="0">
                <a:solidFill>
                  <a:srgbClr val="5D636B"/>
                </a:solidFill>
                <a:latin typeface="Calibri" pitchFamily="34" charset="0"/>
                <a:ea typeface="Calibri" pitchFamily="34" charset="-122"/>
                <a:cs typeface="Calibri" pitchFamily="34" charset="-120"/>
              </a:rPr>
              <a:t>Answers only from in-force rules; cancelled ones are named, not quoted.</a:t>
            </a:r>
            <a:endParaRPr lang="en-US" sz="950" dirty="0"/>
          </a:p>
        </p:txBody>
      </p:sp>
      <p:sp>
        <p:nvSpPr>
          <p:cNvPr id="10" name="Shape 7"/>
          <p:cNvSpPr/>
          <p:nvPr/>
        </p:nvSpPr>
        <p:spPr>
          <a:xfrm>
            <a:off x="7726680" y="2980944"/>
            <a:ext cx="3886200" cy="713232"/>
          </a:xfrm>
          <a:prstGeom prst="roundRect">
            <a:avLst>
              <a:gd name="adj" fmla="val 15385"/>
            </a:avLst>
          </a:prstGeom>
          <a:solidFill>
            <a:srgbClr val="EEF1FA"/>
          </a:solidFill>
          <a:ln w="12700">
            <a:solidFill>
              <a:srgbClr val="EEF1FA"/>
            </a:solidFill>
            <a:prstDash val="solid"/>
          </a:ln>
        </p:spPr>
      </p:sp>
      <p:sp>
        <p:nvSpPr>
          <p:cNvPr id="11" name="Text 8"/>
          <p:cNvSpPr txBox="1"/>
          <p:nvPr/>
        </p:nvSpPr>
        <p:spPr>
          <a:xfrm>
            <a:off x="7909560" y="3118104"/>
            <a:ext cx="3520440" cy="365760"/>
          </a:xfrm>
          <a:prstGeom prst="rect">
            <a:avLst/>
          </a:prstGeom>
          <a:noFill/>
          <a:ln/>
        </p:spPr>
        <p:txBody>
          <a:bodyPr wrap="square" lIns="0" tIns="0" rIns="0" bIns="0" rtlCol="0" anchor="ctr"/>
          <a:lstStyle/>
          <a:p>
            <a:pPr indent="0" marL="0">
              <a:buNone/>
            </a:pPr>
            <a:r>
              <a:rPr lang="en-US" sz="1200" b="1" dirty="0">
                <a:solidFill>
                  <a:srgbClr val="16232A"/>
                </a:solidFill>
                <a:latin typeface="Calibri" pitchFamily="34" charset="0"/>
                <a:ea typeface="Calibri" pitchFamily="34" charset="-122"/>
                <a:cs typeface="Calibri" pitchFamily="34" charset="-120"/>
              </a:rPr>
              <a:t>Federal vs Sarawak</a:t>
            </a:r>
            <a:endParaRPr lang="en-US" sz="1200" dirty="0"/>
          </a:p>
        </p:txBody>
      </p:sp>
      <p:sp>
        <p:nvSpPr>
          <p:cNvPr id="12" name="Text 9"/>
          <p:cNvSpPr txBox="1"/>
          <p:nvPr/>
        </p:nvSpPr>
        <p:spPr>
          <a:xfrm>
            <a:off x="7909560" y="3483864"/>
            <a:ext cx="3520440" cy="73152"/>
          </a:xfrm>
          <a:prstGeom prst="rect">
            <a:avLst/>
          </a:prstGeom>
          <a:noFill/>
          <a:ln/>
        </p:spPr>
        <p:txBody>
          <a:bodyPr wrap="square" lIns="0" tIns="0" rIns="0" bIns="0" rtlCol="0" anchor="t"/>
          <a:lstStyle/>
          <a:p>
            <a:pPr indent="0" marL="0">
              <a:buNone/>
            </a:pPr>
            <a:r>
              <a:rPr lang="en-US" sz="950" dirty="0">
                <a:solidFill>
                  <a:srgbClr val="5D636B"/>
                </a:solidFill>
                <a:latin typeface="Calibri" pitchFamily="34" charset="0"/>
                <a:ea typeface="Calibri" pitchFamily="34" charset="-122"/>
                <a:cs typeface="Calibri" pitchFamily="34" charset="-120"/>
              </a:rPr>
              <a:t>Your jurisdiction first, the other side by side.</a:t>
            </a:r>
            <a:endParaRPr lang="en-US" sz="950" dirty="0"/>
          </a:p>
        </p:txBody>
      </p:sp>
      <p:sp>
        <p:nvSpPr>
          <p:cNvPr id="13" name="Shape 10"/>
          <p:cNvSpPr/>
          <p:nvPr/>
        </p:nvSpPr>
        <p:spPr>
          <a:xfrm>
            <a:off x="7726680" y="3767328"/>
            <a:ext cx="3886200" cy="713232"/>
          </a:xfrm>
          <a:prstGeom prst="roundRect">
            <a:avLst>
              <a:gd name="adj" fmla="val 15385"/>
            </a:avLst>
          </a:prstGeom>
          <a:solidFill>
            <a:srgbClr val="EEF1FA"/>
          </a:solidFill>
          <a:ln w="12700">
            <a:solidFill>
              <a:srgbClr val="EEF1FA"/>
            </a:solidFill>
            <a:prstDash val="solid"/>
          </a:ln>
        </p:spPr>
      </p:sp>
      <p:sp>
        <p:nvSpPr>
          <p:cNvPr id="14" name="Text 11"/>
          <p:cNvSpPr txBox="1"/>
          <p:nvPr/>
        </p:nvSpPr>
        <p:spPr>
          <a:xfrm>
            <a:off x="7909560" y="3904488"/>
            <a:ext cx="3520440" cy="365760"/>
          </a:xfrm>
          <a:prstGeom prst="rect">
            <a:avLst/>
          </a:prstGeom>
          <a:noFill/>
          <a:ln/>
        </p:spPr>
        <p:txBody>
          <a:bodyPr wrap="square" lIns="0" tIns="0" rIns="0" bIns="0" rtlCol="0" anchor="ctr"/>
          <a:lstStyle/>
          <a:p>
            <a:pPr indent="0" marL="0">
              <a:buNone/>
            </a:pPr>
            <a:r>
              <a:rPr lang="en-US" sz="1200" b="1" dirty="0">
                <a:solidFill>
                  <a:srgbClr val="16232A"/>
                </a:solidFill>
                <a:latin typeface="Calibri" pitchFamily="34" charset="0"/>
                <a:ea typeface="Calibri" pitchFamily="34" charset="-122"/>
                <a:cs typeface="Calibri" pitchFamily="34" charset="-120"/>
              </a:rPr>
              <a:t>What-changed alerts</a:t>
            </a:r>
            <a:endParaRPr lang="en-US" sz="1200" dirty="0"/>
          </a:p>
        </p:txBody>
      </p:sp>
      <p:sp>
        <p:nvSpPr>
          <p:cNvPr id="15" name="Text 12"/>
          <p:cNvSpPr txBox="1"/>
          <p:nvPr/>
        </p:nvSpPr>
        <p:spPr>
          <a:xfrm>
            <a:off x="7909560" y="4270248"/>
            <a:ext cx="3520440" cy="73152"/>
          </a:xfrm>
          <a:prstGeom prst="rect">
            <a:avLst/>
          </a:prstGeom>
          <a:noFill/>
          <a:ln/>
        </p:spPr>
        <p:txBody>
          <a:bodyPr wrap="square" lIns="0" tIns="0" rIns="0" bIns="0" rtlCol="0" anchor="t"/>
          <a:lstStyle/>
          <a:p>
            <a:pPr indent="0" marL="0">
              <a:buNone/>
            </a:pPr>
            <a:r>
              <a:rPr lang="en-US" sz="950" dirty="0">
                <a:solidFill>
                  <a:srgbClr val="5D636B"/>
                </a:solidFill>
                <a:latin typeface="Calibri" pitchFamily="34" charset="0"/>
                <a:ea typeface="Calibri" pitchFamily="34" charset="-122"/>
                <a:cs typeface="Calibri" pitchFamily="34" charset="-120"/>
              </a:rPr>
              <a:t>Clause-level diff and a plain BM/EN summary when a rule you follow changes.</a:t>
            </a:r>
            <a:endParaRPr lang="en-US" sz="950" dirty="0"/>
          </a:p>
        </p:txBody>
      </p:sp>
      <p:sp>
        <p:nvSpPr>
          <p:cNvPr id="16" name="Shape 13"/>
          <p:cNvSpPr/>
          <p:nvPr/>
        </p:nvSpPr>
        <p:spPr>
          <a:xfrm>
            <a:off x="7726680" y="4553712"/>
            <a:ext cx="3886200" cy="713232"/>
          </a:xfrm>
          <a:prstGeom prst="roundRect">
            <a:avLst>
              <a:gd name="adj" fmla="val 15385"/>
            </a:avLst>
          </a:prstGeom>
          <a:solidFill>
            <a:srgbClr val="EEF1FA"/>
          </a:solidFill>
          <a:ln w="12700">
            <a:solidFill>
              <a:srgbClr val="EEF1FA"/>
            </a:solidFill>
            <a:prstDash val="solid"/>
          </a:ln>
        </p:spPr>
      </p:sp>
      <p:sp>
        <p:nvSpPr>
          <p:cNvPr id="17" name="Text 14"/>
          <p:cNvSpPr txBox="1"/>
          <p:nvPr/>
        </p:nvSpPr>
        <p:spPr>
          <a:xfrm>
            <a:off x="7909560" y="4690872"/>
            <a:ext cx="3520440" cy="365760"/>
          </a:xfrm>
          <a:prstGeom prst="rect">
            <a:avLst/>
          </a:prstGeom>
          <a:noFill/>
          <a:ln/>
        </p:spPr>
        <p:txBody>
          <a:bodyPr wrap="square" lIns="0" tIns="0" rIns="0" bIns="0" rtlCol="0" anchor="ctr"/>
          <a:lstStyle/>
          <a:p>
            <a:pPr indent="0" marL="0">
              <a:buNone/>
            </a:pPr>
            <a:r>
              <a:rPr lang="en-US" sz="1200" b="1" dirty="0">
                <a:solidFill>
                  <a:srgbClr val="16232A"/>
                </a:solidFill>
                <a:latin typeface="Calibri" pitchFamily="34" charset="0"/>
                <a:ea typeface="Calibri" pitchFamily="34" charset="-122"/>
                <a:cs typeface="Calibri" pitchFamily="34" charset="-120"/>
              </a:rPr>
              <a:t>Offline, signed packs</a:t>
            </a:r>
            <a:endParaRPr lang="en-US" sz="1200" dirty="0"/>
          </a:p>
        </p:txBody>
      </p:sp>
      <p:sp>
        <p:nvSpPr>
          <p:cNvPr id="18" name="Text 15"/>
          <p:cNvSpPr txBox="1"/>
          <p:nvPr/>
        </p:nvSpPr>
        <p:spPr>
          <a:xfrm>
            <a:off x="7909560" y="5056632"/>
            <a:ext cx="3520440" cy="73152"/>
          </a:xfrm>
          <a:prstGeom prst="rect">
            <a:avLst/>
          </a:prstGeom>
          <a:noFill/>
          <a:ln/>
        </p:spPr>
        <p:txBody>
          <a:bodyPr wrap="square" lIns="0" tIns="0" rIns="0" bIns="0" rtlCol="0" anchor="t"/>
          <a:lstStyle/>
          <a:p>
            <a:pPr indent="0" marL="0">
              <a:buNone/>
            </a:pPr>
            <a:r>
              <a:rPr lang="en-US" sz="950" dirty="0">
                <a:solidFill>
                  <a:srgbClr val="5D636B"/>
                </a:solidFill>
                <a:latin typeface="Calibri" pitchFamily="34" charset="0"/>
                <a:ea typeface="Calibri" pitchFamily="34" charset="-122"/>
                <a:cs typeface="Calibri" pitchFamily="34" charset="-120"/>
              </a:rPr>
              <a:t>Verified centrally, delivered signed, answered on the officer's PC.</a:t>
            </a:r>
            <a:endParaRPr lang="en-US" sz="950" dirty="0"/>
          </a:p>
        </p:txBody>
      </p:sp>
      <p:sp>
        <p:nvSpPr>
          <p:cNvPr id="19" name="Shape 16"/>
          <p:cNvSpPr/>
          <p:nvPr/>
        </p:nvSpPr>
        <p:spPr>
          <a:xfrm>
            <a:off x="7726680" y="5394960"/>
            <a:ext cx="3886200" cy="731520"/>
          </a:xfrm>
          <a:prstGeom prst="roundRect">
            <a:avLst>
              <a:gd name="adj" fmla="val 15000"/>
            </a:avLst>
          </a:prstGeom>
          <a:solidFill>
            <a:srgbClr val="E2F0E7"/>
          </a:solidFill>
          <a:ln w="12700">
            <a:solidFill>
              <a:srgbClr val="E2F0E7"/>
            </a:solidFill>
            <a:prstDash val="solid"/>
          </a:ln>
        </p:spPr>
      </p:sp>
      <p:sp>
        <p:nvSpPr>
          <p:cNvPr id="20" name="Text 17"/>
          <p:cNvSpPr txBox="1"/>
          <p:nvPr/>
        </p:nvSpPr>
        <p:spPr>
          <a:xfrm>
            <a:off x="7863840" y="5440680"/>
            <a:ext cx="3657600" cy="640080"/>
          </a:xfrm>
          <a:prstGeom prst="rect">
            <a:avLst/>
          </a:prstGeom>
          <a:noFill/>
          <a:ln/>
        </p:spPr>
        <p:txBody>
          <a:bodyPr wrap="square" lIns="0" tIns="0" rIns="0" bIns="0" rtlCol="0" anchor="ctr"/>
          <a:lstStyle/>
          <a:p>
            <a:pPr indent="0" marL="0">
              <a:buNone/>
            </a:pPr>
            <a:r>
              <a:rPr lang="en-US" sz="1800" b="1" dirty="0">
                <a:solidFill>
                  <a:srgbClr val="1E6B41"/>
                </a:solidFill>
                <a:latin typeface="Calibri" pitchFamily="34" charset="0"/>
                <a:ea typeface="Calibri" pitchFamily="34" charset="-122"/>
                <a:cs typeface="Calibri" pitchFamily="34" charset="-120"/>
              </a:rPr>
              <a:t>91.7% -&gt; 0%  </a:t>
            </a:r>
            <a:pPr indent="0" marL="0">
              <a:buNone/>
            </a:pPr>
            <a:r>
              <a:rPr lang="en-US" sz="950" dirty="0">
                <a:solidFill>
                  <a:srgbClr val="1A1D21"/>
                </a:solidFill>
                <a:latin typeface="Calibri" pitchFamily="34" charset="0"/>
                <a:ea typeface="Calibri" pitchFamily="34" charset="-122"/>
                <a:cs typeface="Calibri" pitchFamily="34" charset="-120"/>
              </a:rPr>
              <a:t>cancelled circulars cited as current: typical chatbot vs MixUp Navigator (30-question test, synthetic corpus)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65760"/>
          </a:xfrm>
          <a:prstGeom prst="rect">
            <a:avLst/>
          </a:prstGeom>
          <a:noFill/>
          <a:ln/>
        </p:spPr>
        <p:txBody>
          <a:bodyPr wrap="square" lIns="0" tIns="0" rIns="0" bIns="0" rtlCol="0" anchor="ctr"/>
          <a:lstStyle/>
          <a:p>
            <a:pPr indent="0" marL="0">
              <a:buNone/>
            </a:pPr>
            <a:r>
              <a:rPr lang="en-US" sz="1600" b="1" dirty="0">
                <a:solidFill>
                  <a:srgbClr val="2F6BD9"/>
                </a:solidFill>
                <a:latin typeface="Calibri" pitchFamily="34" charset="0"/>
                <a:ea typeface="Calibri" pitchFamily="34" charset="-122"/>
                <a:cs typeface="Calibri" pitchFamily="34" charset="-120"/>
              </a:rPr>
              <a:t>05   </a:t>
            </a:r>
            <a:pPr indent="0" marL="0">
              <a:buNone/>
            </a:pPr>
            <a:r>
              <a:rPr lang="en-US" sz="1600" b="1" dirty="0">
                <a:solidFill>
                  <a:srgbClr val="1A1D21"/>
                </a:solidFill>
                <a:latin typeface="Calibri" pitchFamily="34" charset="0"/>
                <a:ea typeface="Calibri" pitchFamily="34" charset="-122"/>
                <a:cs typeface="Calibri" pitchFamily="34" charset="-120"/>
              </a:rPr>
              <a:t>How It Works &amp; Feasibility</a:t>
            </a:r>
            <a:endParaRPr lang="en-US" sz="1600" dirty="0"/>
          </a:p>
        </p:txBody>
      </p:sp>
      <p:sp>
        <p:nvSpPr>
          <p:cNvPr id="3" name="Text 1"/>
          <p:cNvSpPr txBox="1"/>
          <p:nvPr/>
        </p:nvSpPr>
        <p:spPr>
          <a:xfrm>
            <a:off x="9692640" y="6355080"/>
            <a:ext cx="2194560" cy="274320"/>
          </a:xfrm>
          <a:prstGeom prst="rect">
            <a:avLst/>
          </a:prstGeom>
          <a:noFill/>
          <a:ln/>
        </p:spPr>
        <p:txBody>
          <a:bodyPr wrap="square" lIns="0" tIns="0" rIns="0" bIns="0" rtlCol="0" anchor="ctr"/>
          <a:lstStyle/>
          <a:p>
            <a:pPr algn="r" indent="0" marL="0">
              <a:buNone/>
            </a:pPr>
            <a:r>
              <a:rPr lang="en-US" sz="1200" b="1" dirty="0">
                <a:solidFill>
                  <a:srgbClr val="23408E"/>
                </a:solidFill>
                <a:latin typeface="Cambria" pitchFamily="34" charset="0"/>
                <a:ea typeface="Cambria" pitchFamily="34" charset="-122"/>
                <a:cs typeface="Cambria" pitchFamily="34" charset="-120"/>
              </a:rPr>
              <a:t>MixUp Navigator</a:t>
            </a:r>
            <a:endParaRPr lang="en-US" sz="1200" dirty="0"/>
          </a:p>
        </p:txBody>
      </p:sp>
      <p:sp>
        <p:nvSpPr>
          <p:cNvPr id="4" name="Text 2"/>
          <p:cNvSpPr txBox="1"/>
          <p:nvPr/>
        </p:nvSpPr>
        <p:spPr>
          <a:xfrm>
            <a:off x="548640" y="777240"/>
            <a:ext cx="11064240" cy="822960"/>
          </a:xfrm>
          <a:prstGeom prst="rect">
            <a:avLst/>
          </a:prstGeom>
          <a:noFill/>
          <a:ln/>
        </p:spPr>
        <p:txBody>
          <a:bodyPr wrap="square" lIns="0" tIns="0" rIns="0" bIns="0" rtlCol="0" anchor="t"/>
          <a:lstStyle/>
          <a:p>
            <a:pPr indent="0" marL="0">
              <a:buNone/>
            </a:pPr>
            <a:r>
              <a:rPr lang="en-US" sz="3000" b="1" dirty="0">
                <a:solidFill>
                  <a:srgbClr val="16232A"/>
                </a:solidFill>
                <a:latin typeface="Cambria" pitchFamily="34" charset="0"/>
                <a:ea typeface="Cambria" pitchFamily="34" charset="-122"/>
                <a:cs typeface="Cambria" pitchFamily="34" charset="-120"/>
              </a:rPr>
              <a:t>Built in hours from parts that already exist.</a:t>
            </a:r>
            <a:endParaRPr lang="en-US" sz="3000" dirty="0"/>
          </a:p>
        </p:txBody>
      </p:sp>
      <p:sp>
        <p:nvSpPr>
          <p:cNvPr id="5" name="Text 3"/>
          <p:cNvSpPr txBox="1"/>
          <p:nvPr/>
        </p:nvSpPr>
        <p:spPr>
          <a:xfrm>
            <a:off x="548640" y="1600200"/>
            <a:ext cx="11064240" cy="457200"/>
          </a:xfrm>
          <a:prstGeom prst="rect">
            <a:avLst/>
          </a:prstGeom>
          <a:noFill/>
          <a:ln/>
        </p:spPr>
        <p:txBody>
          <a:bodyPr wrap="square" lIns="0" tIns="0" rIns="0" bIns="0" rtlCol="0" anchor="ctr"/>
          <a:lstStyle/>
          <a:p>
            <a:pPr indent="0" marL="0">
              <a:buNone/>
            </a:pPr>
            <a:r>
              <a:rPr lang="en-US" sz="1500" dirty="0">
                <a:solidFill>
                  <a:srgbClr val="5D636B"/>
                </a:solidFill>
                <a:latin typeface="Calibri" pitchFamily="34" charset="0"/>
                <a:ea typeface="Calibri" pitchFamily="34" charset="-122"/>
                <a:cs typeface="Calibri" pitchFamily="34" charset="-120"/>
              </a:rPr>
              <a:t>Verify once centrally, deliver signed packs, answer anywhere offline. Public circulars can be curated in the AWS Malaysia Region; restricted tiers stay on-premise.</a:t>
            </a:r>
            <a:endParaRPr lang="en-US" sz="1500" dirty="0"/>
          </a:p>
        </p:txBody>
      </p:sp>
      <p:pic>
        <p:nvPicPr>
          <p:cNvPr id="6" name="Image 0" descr="/home/user/AWS-Kuching-Community-Day/docs/diagrams/04-architecture.png">    </p:cNvPr>
          <p:cNvPicPr>
            <a:picLocks noChangeAspect="1"/>
          </p:cNvPicPr>
          <p:nvPr/>
        </p:nvPicPr>
        <p:blipFill>
          <a:blip r:embed="rId1"/>
          <a:stretch>
            <a:fillRect/>
          </a:stretch>
        </p:blipFill>
        <p:spPr>
          <a:xfrm>
            <a:off x="548640" y="2194560"/>
            <a:ext cx="6766560" cy="3803904"/>
          </a:xfrm>
          <a:prstGeom prst="rect">
            <a:avLst/>
          </a:prstGeom>
        </p:spPr>
      </p:pic>
      <p:sp>
        <p:nvSpPr>
          <p:cNvPr id="7" name="Shape 4"/>
          <p:cNvSpPr/>
          <p:nvPr/>
        </p:nvSpPr>
        <p:spPr>
          <a:xfrm>
            <a:off x="7543800" y="2194560"/>
            <a:ext cx="4069080" cy="1207008"/>
          </a:xfrm>
          <a:prstGeom prst="roundRect">
            <a:avLst>
              <a:gd name="adj" fmla="val 9091"/>
            </a:avLst>
          </a:prstGeom>
          <a:solidFill>
            <a:srgbClr val="EEF1FA"/>
          </a:solidFill>
          <a:ln w="12700">
            <a:solidFill>
              <a:srgbClr val="EEF1FA"/>
            </a:solidFill>
            <a:prstDash val="solid"/>
          </a:ln>
        </p:spPr>
      </p:sp>
      <p:sp>
        <p:nvSpPr>
          <p:cNvPr id="8" name="Text 5"/>
          <p:cNvSpPr txBox="1"/>
          <p:nvPr/>
        </p:nvSpPr>
        <p:spPr>
          <a:xfrm>
            <a:off x="7726680" y="2331720"/>
            <a:ext cx="3703320" cy="365760"/>
          </a:xfrm>
          <a:prstGeom prst="rect">
            <a:avLst/>
          </a:prstGeom>
          <a:noFill/>
          <a:ln/>
        </p:spPr>
        <p:txBody>
          <a:bodyPr wrap="square" lIns="0" tIns="0" rIns="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1  Pilot   0-6 months</a:t>
            </a:r>
            <a:endParaRPr lang="en-US" sz="1250" dirty="0"/>
          </a:p>
        </p:txBody>
      </p:sp>
      <p:sp>
        <p:nvSpPr>
          <p:cNvPr id="9" name="Text 6"/>
          <p:cNvSpPr txBox="1"/>
          <p:nvPr/>
        </p:nvSpPr>
        <p:spPr>
          <a:xfrm>
            <a:off x="7726680" y="2697480"/>
            <a:ext cx="3703320" cy="566928"/>
          </a:xfrm>
          <a:prstGeom prst="rect">
            <a:avLst/>
          </a:prstGeom>
          <a:noFill/>
          <a:ln/>
        </p:spPr>
        <p:txBody>
          <a:bodyPr wrap="square" lIns="0" tIns="0" rIns="0" bIns="0" rtlCol="0" anchor="t"/>
          <a:lstStyle/>
          <a:p>
            <a:pPr indent="0" marL="0">
              <a:buNone/>
            </a:pPr>
            <a:r>
              <a:rPr lang="en-US" sz="1000" dirty="0">
                <a:solidFill>
                  <a:srgbClr val="5D636B"/>
                </a:solidFill>
                <a:latin typeface="Calibri" pitchFamily="34" charset="0"/>
                <a:ea typeface="Calibri" pitchFamily="34" charset="-122"/>
                <a:cs typeface="Calibri" pitchFamily="34" charset="-120"/>
              </a:rPr>
              <a:t>One agency cluster, 50-150 real public circulars, a golden question set and a time-to-answer test.</a:t>
            </a:r>
            <a:endParaRPr lang="en-US" sz="1000" dirty="0"/>
          </a:p>
        </p:txBody>
      </p:sp>
      <p:sp>
        <p:nvSpPr>
          <p:cNvPr id="10" name="Shape 7"/>
          <p:cNvSpPr/>
          <p:nvPr/>
        </p:nvSpPr>
        <p:spPr>
          <a:xfrm>
            <a:off x="7543800" y="3493008"/>
            <a:ext cx="4069080" cy="1207008"/>
          </a:xfrm>
          <a:prstGeom prst="roundRect">
            <a:avLst>
              <a:gd name="adj" fmla="val 9091"/>
            </a:avLst>
          </a:prstGeom>
          <a:solidFill>
            <a:srgbClr val="E2F0E7"/>
          </a:solidFill>
          <a:ln w="12700">
            <a:solidFill>
              <a:srgbClr val="E2F0E7"/>
            </a:solidFill>
            <a:prstDash val="solid"/>
          </a:ln>
        </p:spPr>
      </p:sp>
      <p:sp>
        <p:nvSpPr>
          <p:cNvPr id="11" name="Text 8"/>
          <p:cNvSpPr txBox="1"/>
          <p:nvPr/>
        </p:nvSpPr>
        <p:spPr>
          <a:xfrm>
            <a:off x="7726680" y="3630168"/>
            <a:ext cx="3703320" cy="365760"/>
          </a:xfrm>
          <a:prstGeom prst="rect">
            <a:avLst/>
          </a:prstGeom>
          <a:noFill/>
          <a:ln/>
        </p:spPr>
        <p:txBody>
          <a:bodyPr wrap="square" lIns="0" tIns="0" rIns="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2  Connect   6-18 months</a:t>
            </a:r>
            <a:endParaRPr lang="en-US" sz="1250" dirty="0"/>
          </a:p>
        </p:txBody>
      </p:sp>
      <p:sp>
        <p:nvSpPr>
          <p:cNvPr id="12" name="Text 9"/>
          <p:cNvSpPr txBox="1"/>
          <p:nvPr/>
        </p:nvSpPr>
        <p:spPr>
          <a:xfrm>
            <a:off x="7726680" y="3995928"/>
            <a:ext cx="3703320" cy="566928"/>
          </a:xfrm>
          <a:prstGeom prst="rect">
            <a:avLst/>
          </a:prstGeom>
          <a:noFill/>
          <a:ln/>
        </p:spPr>
        <p:txBody>
          <a:bodyPr wrap="square" lIns="0" tIns="0" rIns="0" bIns="0" rtlCol="0" anchor="t"/>
          <a:lstStyle/>
          <a:p>
            <a:pPr indent="0" marL="0">
              <a:buNone/>
            </a:pPr>
            <a:r>
              <a:rPr lang="en-US" sz="1000" dirty="0">
                <a:solidFill>
                  <a:srgbClr val="5D636B"/>
                </a:solidFill>
                <a:latin typeface="Calibri" pitchFamily="34" charset="0"/>
                <a:ea typeface="Calibri" pitchFamily="34" charset="-122"/>
                <a:cs typeface="Calibri" pitchFamily="34" charset="-120"/>
              </a:rPr>
              <a:t>Feeds from DDMS 2.0 and MyPPSM, integration with ADAM AI, Publisher on MyGovCloud or the SAINS platform (Terbuka only).</a:t>
            </a:r>
            <a:endParaRPr lang="en-US" sz="1000" dirty="0"/>
          </a:p>
        </p:txBody>
      </p:sp>
      <p:sp>
        <p:nvSpPr>
          <p:cNvPr id="13" name="Shape 10"/>
          <p:cNvSpPr/>
          <p:nvPr/>
        </p:nvSpPr>
        <p:spPr>
          <a:xfrm>
            <a:off x="7543800" y="4791456"/>
            <a:ext cx="4069080" cy="1207008"/>
          </a:xfrm>
          <a:prstGeom prst="roundRect">
            <a:avLst>
              <a:gd name="adj" fmla="val 9091"/>
            </a:avLst>
          </a:prstGeom>
          <a:solidFill>
            <a:srgbClr val="FAEDD0"/>
          </a:solidFill>
          <a:ln w="12700">
            <a:solidFill>
              <a:srgbClr val="FAEDD0"/>
            </a:solidFill>
            <a:prstDash val="solid"/>
          </a:ln>
        </p:spPr>
      </p:sp>
      <p:sp>
        <p:nvSpPr>
          <p:cNvPr id="14" name="Text 11"/>
          <p:cNvSpPr txBox="1"/>
          <p:nvPr/>
        </p:nvSpPr>
        <p:spPr>
          <a:xfrm>
            <a:off x="7726680" y="4928616"/>
            <a:ext cx="3703320" cy="365760"/>
          </a:xfrm>
          <a:prstGeom prst="rect">
            <a:avLst/>
          </a:prstGeom>
          <a:noFill/>
          <a:ln/>
        </p:spPr>
        <p:txBody>
          <a:bodyPr wrap="square" lIns="0" tIns="0" rIns="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3  Scale   18+ months</a:t>
            </a:r>
            <a:endParaRPr lang="en-US" sz="1250" dirty="0"/>
          </a:p>
        </p:txBody>
      </p:sp>
      <p:sp>
        <p:nvSpPr>
          <p:cNvPr id="15" name="Text 12"/>
          <p:cNvSpPr txBox="1"/>
          <p:nvPr/>
        </p:nvSpPr>
        <p:spPr>
          <a:xfrm>
            <a:off x="7726680" y="5294376"/>
            <a:ext cx="3703320" cy="566928"/>
          </a:xfrm>
          <a:prstGeom prst="rect">
            <a:avLst/>
          </a:prstGeom>
          <a:noFill/>
          <a:ln/>
        </p:spPr>
        <p:txBody>
          <a:bodyPr wrap="square" lIns="0" tIns="0" rIns="0" bIns="0" rtlCol="0" anchor="t"/>
          <a:lstStyle/>
          <a:p>
            <a:pPr indent="0" marL="0">
              <a:buNone/>
            </a:pPr>
            <a:r>
              <a:rPr lang="en-US" sz="1000" dirty="0">
                <a:solidFill>
                  <a:srgbClr val="5D636B"/>
                </a:solidFill>
                <a:latin typeface="Calibri" pitchFamily="34" charset="0"/>
                <a:ea typeface="Calibri" pitchFamily="34" charset="-122"/>
                <a:cs typeface="Calibri" pitchFamily="34" charset="-120"/>
              </a:rPr>
              <a:t>Federal and Sarawak, then other states; Terhad and Sulit packs built on-premise, never on public cloud.</a:t>
            </a:r>
            <a:endParaRPr lang="en-US" sz="1000" dirty="0"/>
          </a:p>
        </p:txBody>
      </p:sp>
      <p:sp>
        <p:nvSpPr>
          <p:cNvPr id="16" name="Text 13"/>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5D636B"/>
                </a:solidFill>
                <a:latin typeface="Calibri" pitchFamily="34" charset="0"/>
                <a:ea typeface="Calibri" pitchFamily="34" charset="-122"/>
                <a:cs typeface="Calibri" pitchFamily="34" charset="-120"/>
              </a:rPr>
              <a:t>Pilot needs: one agency, a public circular corpus and feedback from JPA or the Sarawak civil service. The prototype runs today on a laptop.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65760"/>
          </a:xfrm>
          <a:prstGeom prst="rect">
            <a:avLst/>
          </a:prstGeom>
          <a:noFill/>
          <a:ln/>
        </p:spPr>
        <p:txBody>
          <a:bodyPr wrap="square" lIns="0" tIns="0" rIns="0" bIns="0" rtlCol="0" anchor="ctr"/>
          <a:lstStyle/>
          <a:p>
            <a:pPr indent="0" marL="0">
              <a:buNone/>
            </a:pPr>
            <a:r>
              <a:rPr lang="en-US" sz="1600" b="1" dirty="0">
                <a:solidFill>
                  <a:srgbClr val="2F6BD9"/>
                </a:solidFill>
                <a:latin typeface="Calibri" pitchFamily="34" charset="0"/>
                <a:ea typeface="Calibri" pitchFamily="34" charset="-122"/>
                <a:cs typeface="Calibri" pitchFamily="34" charset="-120"/>
              </a:rPr>
              <a:t>06   </a:t>
            </a:r>
            <a:pPr indent="0" marL="0">
              <a:buNone/>
            </a:pPr>
            <a:r>
              <a:rPr lang="en-US" sz="1600" b="1" dirty="0">
                <a:solidFill>
                  <a:srgbClr val="1A1D21"/>
                </a:solidFill>
                <a:latin typeface="Calibri" pitchFamily="34" charset="0"/>
                <a:ea typeface="Calibri" pitchFamily="34" charset="-122"/>
                <a:cs typeface="Calibri" pitchFamily="34" charset="-120"/>
              </a:rPr>
              <a:t>Impact &amp; Potential</a:t>
            </a:r>
            <a:endParaRPr lang="en-US" sz="1600" dirty="0"/>
          </a:p>
        </p:txBody>
      </p:sp>
      <p:sp>
        <p:nvSpPr>
          <p:cNvPr id="3" name="Text 1"/>
          <p:cNvSpPr txBox="1"/>
          <p:nvPr/>
        </p:nvSpPr>
        <p:spPr>
          <a:xfrm>
            <a:off x="9692640" y="6355080"/>
            <a:ext cx="2194560" cy="274320"/>
          </a:xfrm>
          <a:prstGeom prst="rect">
            <a:avLst/>
          </a:prstGeom>
          <a:noFill/>
          <a:ln/>
        </p:spPr>
        <p:txBody>
          <a:bodyPr wrap="square" lIns="0" tIns="0" rIns="0" bIns="0" rtlCol="0" anchor="ctr"/>
          <a:lstStyle/>
          <a:p>
            <a:pPr algn="r" indent="0" marL="0">
              <a:buNone/>
            </a:pPr>
            <a:r>
              <a:rPr lang="en-US" sz="1200" b="1" dirty="0">
                <a:solidFill>
                  <a:srgbClr val="23408E"/>
                </a:solidFill>
                <a:latin typeface="Cambria" pitchFamily="34" charset="0"/>
                <a:ea typeface="Cambria" pitchFamily="34" charset="-122"/>
                <a:cs typeface="Cambria" pitchFamily="34" charset="-120"/>
              </a:rPr>
              <a:t>MixUp Navigator</a:t>
            </a:r>
            <a:endParaRPr lang="en-US" sz="1200" dirty="0"/>
          </a:p>
        </p:txBody>
      </p:sp>
      <p:sp>
        <p:nvSpPr>
          <p:cNvPr id="4" name="Text 2"/>
          <p:cNvSpPr txBox="1"/>
          <p:nvPr/>
        </p:nvSpPr>
        <p:spPr>
          <a:xfrm>
            <a:off x="548640" y="777240"/>
            <a:ext cx="11064240" cy="822960"/>
          </a:xfrm>
          <a:prstGeom prst="rect">
            <a:avLst/>
          </a:prstGeom>
          <a:noFill/>
          <a:ln/>
        </p:spPr>
        <p:txBody>
          <a:bodyPr wrap="square" lIns="0" tIns="0" rIns="0" bIns="0" rtlCol="0" anchor="t"/>
          <a:lstStyle/>
          <a:p>
            <a:pPr indent="0" marL="0">
              <a:buNone/>
            </a:pPr>
            <a:r>
              <a:rPr lang="en-US" sz="3000" b="1" dirty="0">
                <a:solidFill>
                  <a:srgbClr val="16232A"/>
                </a:solidFill>
                <a:latin typeface="Cambria" pitchFamily="34" charset="0"/>
                <a:ea typeface="Cambria" pitchFamily="34" charset="-122"/>
                <a:cs typeface="Cambria" pitchFamily="34" charset="-120"/>
              </a:rPr>
              <a:t>Correct, current answers for every officer.</a:t>
            </a:r>
            <a:endParaRPr lang="en-US" sz="3000" dirty="0"/>
          </a:p>
        </p:txBody>
      </p:sp>
      <p:sp>
        <p:nvSpPr>
          <p:cNvPr id="5" name="Text 3"/>
          <p:cNvSpPr txBox="1"/>
          <p:nvPr/>
        </p:nvSpPr>
        <p:spPr>
          <a:xfrm>
            <a:off x="548640" y="1600200"/>
            <a:ext cx="11064240" cy="457200"/>
          </a:xfrm>
          <a:prstGeom prst="rect">
            <a:avLst/>
          </a:prstGeom>
          <a:noFill/>
          <a:ln/>
        </p:spPr>
        <p:txBody>
          <a:bodyPr wrap="square" lIns="0" tIns="0" rIns="0" bIns="0" rtlCol="0" anchor="ctr"/>
          <a:lstStyle/>
          <a:p>
            <a:pPr indent="0" marL="0">
              <a:buNone/>
            </a:pPr>
            <a:r>
              <a:rPr lang="en-US" sz="1500" dirty="0">
                <a:solidFill>
                  <a:srgbClr val="5D636B"/>
                </a:solidFill>
                <a:latin typeface="Calibri" pitchFamily="34" charset="0"/>
                <a:ea typeface="Calibri" pitchFamily="34" charset="-122"/>
                <a:cs typeface="Calibri" pitchFamily="34" charset="-120"/>
              </a:rPr>
              <a:t>Success means fewer wrong answers and rejected claims, not more chat.</a:t>
            </a:r>
            <a:endParaRPr lang="en-US" sz="1500" dirty="0"/>
          </a:p>
        </p:txBody>
      </p:sp>
      <p:sp>
        <p:nvSpPr>
          <p:cNvPr id="6" name="Shape 4"/>
          <p:cNvSpPr/>
          <p:nvPr/>
        </p:nvSpPr>
        <p:spPr>
          <a:xfrm>
            <a:off x="548640" y="2194560"/>
            <a:ext cx="5394960" cy="2011680"/>
          </a:xfrm>
          <a:prstGeom prst="roundRect">
            <a:avLst>
              <a:gd name="adj" fmla="val 5455"/>
            </a:avLst>
          </a:prstGeom>
          <a:solidFill>
            <a:srgbClr val="EEF1FA"/>
          </a:solidFill>
          <a:ln w="12700">
            <a:solidFill>
              <a:srgbClr val="EEF1FA"/>
            </a:solidFill>
            <a:prstDash val="solid"/>
          </a:ln>
        </p:spPr>
      </p:sp>
      <p:sp>
        <p:nvSpPr>
          <p:cNvPr id="7" name="Text 5"/>
          <p:cNvSpPr txBox="1"/>
          <p:nvPr/>
        </p:nvSpPr>
        <p:spPr>
          <a:xfrm>
            <a:off x="731520" y="2286000"/>
            <a:ext cx="5029200" cy="274320"/>
          </a:xfrm>
          <a:prstGeom prst="rect">
            <a:avLst/>
          </a:prstGeom>
          <a:noFill/>
          <a:ln/>
        </p:spPr>
        <p:txBody>
          <a:bodyPr wrap="square" lIns="0" tIns="0" rIns="0" bIns="0" rtlCol="0" anchor="ctr"/>
          <a:lstStyle/>
          <a:p>
            <a:pPr indent="0" marL="0">
              <a:buNone/>
            </a:pPr>
            <a:r>
              <a:rPr lang="en-US" sz="1000" b="1" spc="100" kern="0" dirty="0">
                <a:solidFill>
                  <a:srgbClr val="5D636B"/>
                </a:solidFill>
                <a:latin typeface="Calibri" pitchFamily="34" charset="0"/>
                <a:ea typeface="Calibri" pitchFamily="34" charset="-122"/>
                <a:cs typeface="Calibri" pitchFamily="34" charset="-120"/>
              </a:rPr>
              <a:t>ON OUR 30-QUESTION TEST (SYNTHETIC CORPUS)</a:t>
            </a:r>
            <a:endParaRPr lang="en-US" sz="1000" dirty="0"/>
          </a:p>
        </p:txBody>
      </p:sp>
      <p:sp>
        <p:nvSpPr>
          <p:cNvPr id="8" name="Text 6"/>
          <p:cNvSpPr txBox="1"/>
          <p:nvPr/>
        </p:nvSpPr>
        <p:spPr>
          <a:xfrm>
            <a:off x="731520" y="2606040"/>
            <a:ext cx="5029200" cy="640080"/>
          </a:xfrm>
          <a:prstGeom prst="rect">
            <a:avLst/>
          </a:prstGeom>
          <a:noFill/>
          <a:ln/>
        </p:spPr>
        <p:txBody>
          <a:bodyPr wrap="square" lIns="0" tIns="0" rIns="0" bIns="0" rtlCol="0" anchor="ctr"/>
          <a:lstStyle/>
          <a:p>
            <a:pPr indent="0" marL="0">
              <a:buNone/>
            </a:pPr>
            <a:r>
              <a:rPr lang="en-US" sz="3000" b="1" dirty="0">
                <a:solidFill>
                  <a:srgbClr val="9A241C"/>
                </a:solidFill>
                <a:latin typeface="Cambria" pitchFamily="34" charset="0"/>
                <a:ea typeface="Cambria" pitchFamily="34" charset="-122"/>
                <a:cs typeface="Cambria" pitchFamily="34" charset="-120"/>
              </a:rPr>
              <a:t>91.7%</a:t>
            </a:r>
            <a:pPr indent="0" marL="0">
              <a:buNone/>
            </a:pPr>
            <a:r>
              <a:rPr lang="en-US" sz="2000" dirty="0">
                <a:solidFill>
                  <a:srgbClr val="5D636B"/>
                </a:solidFill>
                <a:latin typeface="Cambria" pitchFamily="34" charset="0"/>
                <a:ea typeface="Cambria" pitchFamily="34" charset="-122"/>
                <a:cs typeface="Cambria" pitchFamily="34" charset="-120"/>
              </a:rPr>
              <a:t>  -&gt;  </a:t>
            </a:r>
            <a:pPr indent="0" marL="0">
              <a:buNone/>
            </a:pPr>
            <a:r>
              <a:rPr lang="en-US" sz="3000" b="1" dirty="0">
                <a:solidFill>
                  <a:srgbClr val="1E6B41"/>
                </a:solidFill>
                <a:latin typeface="Cambria" pitchFamily="34" charset="0"/>
                <a:ea typeface="Cambria" pitchFamily="34" charset="-122"/>
                <a:cs typeface="Cambria" pitchFamily="34" charset="-120"/>
              </a:rPr>
              <a:t>0%</a:t>
            </a:r>
            <a:endParaRPr lang="en-US" sz="3000" dirty="0"/>
          </a:p>
        </p:txBody>
      </p:sp>
      <p:sp>
        <p:nvSpPr>
          <p:cNvPr id="9" name="Text 7"/>
          <p:cNvSpPr txBox="1"/>
          <p:nvPr/>
        </p:nvSpPr>
        <p:spPr>
          <a:xfrm>
            <a:off x="731520" y="3200400"/>
            <a:ext cx="5029200" cy="274320"/>
          </a:xfrm>
          <a:prstGeom prst="rect">
            <a:avLst/>
          </a:prstGeom>
          <a:noFill/>
          <a:ln/>
        </p:spPr>
        <p:txBody>
          <a:bodyPr wrap="square" lIns="0" tIns="0" rIns="0" bIns="0" rtlCol="0" anchor="ctr"/>
          <a:lstStyle/>
          <a:p>
            <a:pPr indent="0" marL="0">
              <a:buNone/>
            </a:pPr>
            <a:r>
              <a:rPr lang="en-US" sz="1150" dirty="0">
                <a:solidFill>
                  <a:srgbClr val="1A1D21"/>
                </a:solidFill>
                <a:latin typeface="Calibri" pitchFamily="34" charset="0"/>
                <a:ea typeface="Calibri" pitchFamily="34" charset="-122"/>
                <a:cs typeface="Calibri" pitchFamily="34" charset="-120"/>
              </a:rPr>
              <a:t>cancelled circulars cited as current</a:t>
            </a:r>
            <a:endParaRPr lang="en-US" sz="1150" dirty="0"/>
          </a:p>
        </p:txBody>
      </p:sp>
      <p:sp>
        <p:nvSpPr>
          <p:cNvPr id="10" name="Text 8"/>
          <p:cNvSpPr txBox="1"/>
          <p:nvPr/>
        </p:nvSpPr>
        <p:spPr>
          <a:xfrm>
            <a:off x="731520" y="3566160"/>
            <a:ext cx="5029200" cy="548640"/>
          </a:xfrm>
          <a:prstGeom prst="rect">
            <a:avLst/>
          </a:prstGeom>
          <a:noFill/>
          <a:ln/>
        </p:spPr>
        <p:txBody>
          <a:bodyPr wrap="square" lIns="0" tIns="0" rIns="0" bIns="0" rtlCol="0" anchor="ctr"/>
          <a:lstStyle/>
          <a:p>
            <a:pPr indent="0" marL="0">
              <a:buNone/>
            </a:pPr>
            <a:r>
              <a:rPr lang="en-US" sz="2400" b="1" dirty="0">
                <a:solidFill>
                  <a:srgbClr val="9A241C"/>
                </a:solidFill>
                <a:latin typeface="Cambria" pitchFamily="34" charset="0"/>
                <a:ea typeface="Cambria" pitchFamily="34" charset="-122"/>
                <a:cs typeface="Cambria" pitchFamily="34" charset="-120"/>
              </a:rPr>
              <a:t>43%</a:t>
            </a:r>
            <a:pPr indent="0" marL="0">
              <a:buNone/>
            </a:pPr>
            <a:r>
              <a:rPr lang="en-US" sz="1800" dirty="0">
                <a:solidFill>
                  <a:srgbClr val="5D636B"/>
                </a:solidFill>
                <a:latin typeface="Cambria" pitchFamily="34" charset="0"/>
                <a:ea typeface="Cambria" pitchFamily="34" charset="-122"/>
                <a:cs typeface="Cambria" pitchFamily="34" charset="-120"/>
              </a:rPr>
              <a:t>  -&gt;  </a:t>
            </a:r>
            <a:pPr indent="0" marL="0">
              <a:buNone/>
            </a:pPr>
            <a:r>
              <a:rPr lang="en-US" sz="2400" b="1" dirty="0">
                <a:solidFill>
                  <a:srgbClr val="1E6B41"/>
                </a:solidFill>
                <a:latin typeface="Cambria" pitchFamily="34" charset="0"/>
                <a:ea typeface="Cambria" pitchFamily="34" charset="-122"/>
                <a:cs typeface="Cambria" pitchFamily="34" charset="-120"/>
              </a:rPr>
              <a:t>83%</a:t>
            </a:r>
            <a:pPr indent="0" marL="0">
              <a:buNone/>
            </a:pPr>
            <a:r>
              <a:rPr lang="en-US" sz="1150" dirty="0">
                <a:solidFill>
                  <a:srgbClr val="1A1D21"/>
                </a:solidFill>
                <a:latin typeface="Calibri" pitchFamily="34" charset="0"/>
                <a:ea typeface="Calibri" pitchFamily="34" charset="-122"/>
                <a:cs typeface="Calibri" pitchFamily="34" charset="-120"/>
              </a:rPr>
              <a:t>   correct and current answers</a:t>
            </a:r>
            <a:endParaRPr lang="en-US" sz="2400" dirty="0"/>
          </a:p>
        </p:txBody>
      </p:sp>
      <p:sp>
        <p:nvSpPr>
          <p:cNvPr id="11" name="Shape 9"/>
          <p:cNvSpPr/>
          <p:nvPr/>
        </p:nvSpPr>
        <p:spPr>
          <a:xfrm>
            <a:off x="6217920" y="2194560"/>
            <a:ext cx="5394960" cy="621792"/>
          </a:xfrm>
          <a:prstGeom prst="roundRect">
            <a:avLst>
              <a:gd name="adj" fmla="val 17647"/>
            </a:avLst>
          </a:prstGeom>
          <a:solidFill>
            <a:srgbClr val="EEF1FA"/>
          </a:solidFill>
          <a:ln w="12700">
            <a:solidFill>
              <a:srgbClr val="EEF1FA"/>
            </a:solidFill>
            <a:prstDash val="solid"/>
          </a:ln>
        </p:spPr>
      </p:sp>
      <p:sp>
        <p:nvSpPr>
          <p:cNvPr id="12" name="Text 10"/>
          <p:cNvSpPr txBox="1"/>
          <p:nvPr/>
        </p:nvSpPr>
        <p:spPr>
          <a:xfrm>
            <a:off x="6400800" y="2331720"/>
            <a:ext cx="5029200" cy="365760"/>
          </a:xfrm>
          <a:prstGeom prst="rect">
            <a:avLst/>
          </a:prstGeom>
          <a:noFill/>
          <a:ln/>
        </p:spPr>
        <p:txBody>
          <a:bodyPr wrap="square" lIns="0" tIns="0" rIns="0" bIns="0" rtlCol="0" anchor="ctr"/>
          <a:lstStyle/>
          <a:p>
            <a:pPr indent="0" marL="0">
              <a:buNone/>
            </a:pPr>
            <a:r>
              <a:rPr lang="en-US" sz="1200" b="1" dirty="0">
                <a:solidFill>
                  <a:srgbClr val="16232A"/>
                </a:solidFill>
                <a:latin typeface="Calibri" pitchFamily="34" charset="0"/>
                <a:ea typeface="Calibri" pitchFamily="34" charset="-122"/>
                <a:cs typeface="Calibri" pitchFamily="34" charset="-120"/>
              </a:rPr>
              <a:t>Officers</a:t>
            </a:r>
            <a:endParaRPr lang="en-US" sz="1200" dirty="0"/>
          </a:p>
        </p:txBody>
      </p:sp>
      <p:sp>
        <p:nvSpPr>
          <p:cNvPr id="13" name="Text 11"/>
          <p:cNvSpPr txBox="1"/>
          <p:nvPr/>
        </p:nvSpPr>
        <p:spPr>
          <a:xfrm>
            <a:off x="6400800" y="2697480"/>
            <a:ext cx="5029200" cy="-18288"/>
          </a:xfrm>
          <a:prstGeom prst="rect">
            <a:avLst/>
          </a:prstGeom>
          <a:noFill/>
          <a:ln/>
        </p:spPr>
        <p:txBody>
          <a:bodyPr wrap="square" lIns="0" tIns="0" rIns="0" bIns="0" rtlCol="0" anchor="t"/>
          <a:lstStyle/>
          <a:p>
            <a:pPr indent="0" marL="0">
              <a:buNone/>
            </a:pPr>
            <a:r>
              <a:rPr lang="en-US" sz="1000" dirty="0">
                <a:solidFill>
                  <a:srgbClr val="5D636B"/>
                </a:solidFill>
                <a:latin typeface="Calibri" pitchFamily="34" charset="0"/>
                <a:ea typeface="Calibri" pitchFamily="34" charset="-122"/>
                <a:cs typeface="Calibri" pitchFamily="34" charset="-120"/>
              </a:rPr>
              <a:t>The right rule in under a minute, with the clause to quote.</a:t>
            </a:r>
            <a:endParaRPr lang="en-US" sz="1000" dirty="0"/>
          </a:p>
        </p:txBody>
      </p:sp>
      <p:sp>
        <p:nvSpPr>
          <p:cNvPr id="14" name="Shape 12"/>
          <p:cNvSpPr/>
          <p:nvPr/>
        </p:nvSpPr>
        <p:spPr>
          <a:xfrm>
            <a:off x="6217920" y="2880360"/>
            <a:ext cx="5394960" cy="621792"/>
          </a:xfrm>
          <a:prstGeom prst="roundRect">
            <a:avLst>
              <a:gd name="adj" fmla="val 17647"/>
            </a:avLst>
          </a:prstGeom>
          <a:solidFill>
            <a:srgbClr val="EEF1FA"/>
          </a:solidFill>
          <a:ln w="12700">
            <a:solidFill>
              <a:srgbClr val="EEF1FA"/>
            </a:solidFill>
            <a:prstDash val="solid"/>
          </a:ln>
        </p:spPr>
      </p:sp>
      <p:sp>
        <p:nvSpPr>
          <p:cNvPr id="15" name="Text 13"/>
          <p:cNvSpPr txBox="1"/>
          <p:nvPr/>
        </p:nvSpPr>
        <p:spPr>
          <a:xfrm>
            <a:off x="6400800" y="3017520"/>
            <a:ext cx="5029200" cy="365760"/>
          </a:xfrm>
          <a:prstGeom prst="rect">
            <a:avLst/>
          </a:prstGeom>
          <a:noFill/>
          <a:ln/>
        </p:spPr>
        <p:txBody>
          <a:bodyPr wrap="square" lIns="0" tIns="0" rIns="0" bIns="0" rtlCol="0" anchor="ctr"/>
          <a:lstStyle/>
          <a:p>
            <a:pPr indent="0" marL="0">
              <a:buNone/>
            </a:pPr>
            <a:r>
              <a:rPr lang="en-US" sz="1200" b="1" dirty="0">
                <a:solidFill>
                  <a:srgbClr val="16232A"/>
                </a:solidFill>
                <a:latin typeface="Calibri" pitchFamily="34" charset="0"/>
                <a:ea typeface="Calibri" pitchFamily="34" charset="-122"/>
                <a:cs typeface="Calibri" pitchFamily="34" charset="-120"/>
              </a:rPr>
              <a:t>Agencies</a:t>
            </a:r>
            <a:endParaRPr lang="en-US" sz="1200" dirty="0"/>
          </a:p>
        </p:txBody>
      </p:sp>
      <p:sp>
        <p:nvSpPr>
          <p:cNvPr id="16" name="Text 14"/>
          <p:cNvSpPr txBox="1"/>
          <p:nvPr/>
        </p:nvSpPr>
        <p:spPr>
          <a:xfrm>
            <a:off x="6400800" y="3383280"/>
            <a:ext cx="5029200" cy="-18288"/>
          </a:xfrm>
          <a:prstGeom prst="rect">
            <a:avLst/>
          </a:prstGeom>
          <a:noFill/>
          <a:ln/>
        </p:spPr>
        <p:txBody>
          <a:bodyPr wrap="square" lIns="0" tIns="0" rIns="0" bIns="0" rtlCol="0" anchor="t"/>
          <a:lstStyle/>
          <a:p>
            <a:pPr indent="0" marL="0">
              <a:buNone/>
            </a:pPr>
            <a:r>
              <a:rPr lang="en-US" sz="1000" dirty="0">
                <a:solidFill>
                  <a:srgbClr val="5D636B"/>
                </a:solidFill>
                <a:latin typeface="Calibri" pitchFamily="34" charset="0"/>
                <a:ea typeface="Calibri" pitchFamily="34" charset="-122"/>
                <a:cs typeface="Calibri" pitchFamily="34" charset="-120"/>
              </a:rPr>
              <a:t>Fewer rejected claims, reworks and complaints; audit trail of every answer.</a:t>
            </a:r>
            <a:endParaRPr lang="en-US" sz="1000" dirty="0"/>
          </a:p>
        </p:txBody>
      </p:sp>
      <p:sp>
        <p:nvSpPr>
          <p:cNvPr id="17" name="Shape 15"/>
          <p:cNvSpPr/>
          <p:nvPr/>
        </p:nvSpPr>
        <p:spPr>
          <a:xfrm>
            <a:off x="6217920" y="3566160"/>
            <a:ext cx="5394960" cy="621792"/>
          </a:xfrm>
          <a:prstGeom prst="roundRect">
            <a:avLst>
              <a:gd name="adj" fmla="val 17647"/>
            </a:avLst>
          </a:prstGeom>
          <a:solidFill>
            <a:srgbClr val="EEF1FA"/>
          </a:solidFill>
          <a:ln w="12700">
            <a:solidFill>
              <a:srgbClr val="EEF1FA"/>
            </a:solidFill>
            <a:prstDash val="solid"/>
          </a:ln>
        </p:spPr>
      </p:sp>
      <p:sp>
        <p:nvSpPr>
          <p:cNvPr id="18" name="Text 16"/>
          <p:cNvSpPr txBox="1"/>
          <p:nvPr/>
        </p:nvSpPr>
        <p:spPr>
          <a:xfrm>
            <a:off x="6400800" y="3703320"/>
            <a:ext cx="5029200" cy="365760"/>
          </a:xfrm>
          <a:prstGeom prst="rect">
            <a:avLst/>
          </a:prstGeom>
          <a:noFill/>
          <a:ln/>
        </p:spPr>
        <p:txBody>
          <a:bodyPr wrap="square" lIns="0" tIns="0" rIns="0" bIns="0" rtlCol="0" anchor="ctr"/>
          <a:lstStyle/>
          <a:p>
            <a:pPr indent="0" marL="0">
              <a:buNone/>
            </a:pPr>
            <a:r>
              <a:rPr lang="en-US" sz="1200" b="1" dirty="0">
                <a:solidFill>
                  <a:srgbClr val="16232A"/>
                </a:solidFill>
                <a:latin typeface="Calibri" pitchFamily="34" charset="0"/>
                <a:ea typeface="Calibri" pitchFamily="34" charset="-122"/>
                <a:cs typeface="Calibri" pitchFamily="34" charset="-120"/>
              </a:rPr>
              <a:t>Citizens</a:t>
            </a:r>
            <a:endParaRPr lang="en-US" sz="1200" dirty="0"/>
          </a:p>
        </p:txBody>
      </p:sp>
      <p:sp>
        <p:nvSpPr>
          <p:cNvPr id="19" name="Text 17"/>
          <p:cNvSpPr txBox="1"/>
          <p:nvPr/>
        </p:nvSpPr>
        <p:spPr>
          <a:xfrm>
            <a:off x="6400800" y="4069080"/>
            <a:ext cx="5029200" cy="-18288"/>
          </a:xfrm>
          <a:prstGeom prst="rect">
            <a:avLst/>
          </a:prstGeom>
          <a:noFill/>
          <a:ln/>
        </p:spPr>
        <p:txBody>
          <a:bodyPr wrap="square" lIns="0" tIns="0" rIns="0" bIns="0" rtlCol="0" anchor="t"/>
          <a:lstStyle/>
          <a:p>
            <a:pPr indent="0" marL="0">
              <a:buNone/>
            </a:pPr>
            <a:r>
              <a:rPr lang="en-US" sz="1000" dirty="0">
                <a:solidFill>
                  <a:srgbClr val="5D636B"/>
                </a:solidFill>
                <a:latin typeface="Calibri" pitchFamily="34" charset="0"/>
                <a:ea typeface="Calibri" pitchFamily="34" charset="-122"/>
                <a:cs typeface="Calibri" pitchFamily="34" charset="-120"/>
              </a:rPr>
              <a:t>Consistent, correct answers from government, federal and Sarawak.</a:t>
            </a:r>
            <a:endParaRPr lang="en-US" sz="1000" dirty="0"/>
          </a:p>
        </p:txBody>
      </p:sp>
      <p:sp>
        <p:nvSpPr>
          <p:cNvPr id="20" name="Text 18"/>
          <p:cNvSpPr txBox="1"/>
          <p:nvPr/>
        </p:nvSpPr>
        <p:spPr>
          <a:xfrm>
            <a:off x="548640" y="4434840"/>
            <a:ext cx="5486400" cy="320040"/>
          </a:xfrm>
          <a:prstGeom prst="rect">
            <a:avLst/>
          </a:prstGeom>
          <a:noFill/>
          <a:ln/>
        </p:spPr>
        <p:txBody>
          <a:bodyPr wrap="square" lIns="0" tIns="0" rIns="0" bIns="0" rtlCol="0" anchor="ctr"/>
          <a:lstStyle/>
          <a:p>
            <a:pPr indent="0" marL="0">
              <a:buNone/>
            </a:pPr>
            <a:r>
              <a:rPr lang="en-US" sz="1300" b="1" dirty="0">
                <a:solidFill>
                  <a:srgbClr val="16232A"/>
                </a:solidFill>
                <a:latin typeface="Calibri" pitchFamily="34" charset="0"/>
                <a:ea typeface="Calibri" pitchFamily="34" charset="-122"/>
                <a:cs typeface="Calibri" pitchFamily="34" charset="-120"/>
              </a:rPr>
              <a:t>How we measure success</a:t>
            </a:r>
            <a:endParaRPr lang="en-US" sz="1300" dirty="0"/>
          </a:p>
        </p:txBody>
      </p:sp>
      <p:sp>
        <p:nvSpPr>
          <p:cNvPr id="21" name="Shape 19"/>
          <p:cNvSpPr/>
          <p:nvPr/>
        </p:nvSpPr>
        <p:spPr>
          <a:xfrm>
            <a:off x="548640" y="4800600"/>
            <a:ext cx="2651760" cy="548640"/>
          </a:xfrm>
          <a:prstGeom prst="roundRect">
            <a:avLst>
              <a:gd name="adj" fmla="val 13333"/>
            </a:avLst>
          </a:prstGeom>
          <a:solidFill>
            <a:srgbClr val="FFFFFF"/>
          </a:solidFill>
          <a:ln w="12700">
            <a:solidFill>
              <a:srgbClr val="DAD5CB"/>
            </a:solidFill>
            <a:prstDash val="solid"/>
          </a:ln>
        </p:spPr>
      </p:sp>
      <p:sp>
        <p:nvSpPr>
          <p:cNvPr id="22" name="Text 20"/>
          <p:cNvSpPr txBox="1"/>
          <p:nvPr/>
        </p:nvSpPr>
        <p:spPr>
          <a:xfrm>
            <a:off x="548640" y="4800600"/>
            <a:ext cx="2651760" cy="548640"/>
          </a:xfrm>
          <a:prstGeom prst="rect">
            <a:avLst/>
          </a:prstGeom>
          <a:noFill/>
          <a:ln/>
        </p:spPr>
        <p:txBody>
          <a:bodyPr wrap="square" lIns="0" tIns="0" rIns="0" bIns="0" rtlCol="0" anchor="ctr"/>
          <a:lstStyle/>
          <a:p>
            <a:pPr algn="ctr" indent="0" marL="0">
              <a:buNone/>
            </a:pPr>
            <a:r>
              <a:rPr lang="en-US" sz="1150" b="1" dirty="0">
                <a:solidFill>
                  <a:srgbClr val="23408E"/>
                </a:solidFill>
                <a:latin typeface="Calibri" pitchFamily="34" charset="0"/>
                <a:ea typeface="Calibri" pitchFamily="34" charset="-122"/>
                <a:cs typeface="Calibri" pitchFamily="34" charset="-120"/>
              </a:rPr>
              <a:t>Cancelled-citation rate</a:t>
            </a:r>
            <a:endParaRPr lang="en-US" sz="1150" dirty="0"/>
          </a:p>
        </p:txBody>
      </p:sp>
      <p:sp>
        <p:nvSpPr>
          <p:cNvPr id="23" name="Shape 21"/>
          <p:cNvSpPr/>
          <p:nvPr/>
        </p:nvSpPr>
        <p:spPr>
          <a:xfrm>
            <a:off x="3337560" y="4800600"/>
            <a:ext cx="2651760" cy="548640"/>
          </a:xfrm>
          <a:prstGeom prst="roundRect">
            <a:avLst>
              <a:gd name="adj" fmla="val 13333"/>
            </a:avLst>
          </a:prstGeom>
          <a:solidFill>
            <a:srgbClr val="FFFFFF"/>
          </a:solidFill>
          <a:ln w="12700">
            <a:solidFill>
              <a:srgbClr val="DAD5CB"/>
            </a:solidFill>
            <a:prstDash val="solid"/>
          </a:ln>
        </p:spPr>
      </p:sp>
      <p:sp>
        <p:nvSpPr>
          <p:cNvPr id="24" name="Text 22"/>
          <p:cNvSpPr txBox="1"/>
          <p:nvPr/>
        </p:nvSpPr>
        <p:spPr>
          <a:xfrm>
            <a:off x="3337560" y="4800600"/>
            <a:ext cx="2651760" cy="548640"/>
          </a:xfrm>
          <a:prstGeom prst="rect">
            <a:avLst/>
          </a:prstGeom>
          <a:noFill/>
          <a:ln/>
        </p:spPr>
        <p:txBody>
          <a:bodyPr wrap="square" lIns="0" tIns="0" rIns="0" bIns="0" rtlCol="0" anchor="ctr"/>
          <a:lstStyle/>
          <a:p>
            <a:pPr algn="ctr" indent="0" marL="0">
              <a:buNone/>
            </a:pPr>
            <a:r>
              <a:rPr lang="en-US" sz="1150" b="1" dirty="0">
                <a:solidFill>
                  <a:srgbClr val="23408E"/>
                </a:solidFill>
                <a:latin typeface="Calibri" pitchFamily="34" charset="0"/>
                <a:ea typeface="Calibri" pitchFamily="34" charset="-122"/>
                <a:cs typeface="Calibri" pitchFamily="34" charset="-120"/>
              </a:rPr>
              <a:t>Time to answer</a:t>
            </a:r>
            <a:endParaRPr lang="en-US" sz="1150" dirty="0"/>
          </a:p>
        </p:txBody>
      </p:sp>
      <p:sp>
        <p:nvSpPr>
          <p:cNvPr id="25" name="Shape 23"/>
          <p:cNvSpPr/>
          <p:nvPr/>
        </p:nvSpPr>
        <p:spPr>
          <a:xfrm>
            <a:off x="6126480" y="4800600"/>
            <a:ext cx="2651760" cy="548640"/>
          </a:xfrm>
          <a:prstGeom prst="roundRect">
            <a:avLst>
              <a:gd name="adj" fmla="val 13333"/>
            </a:avLst>
          </a:prstGeom>
          <a:solidFill>
            <a:srgbClr val="FFFFFF"/>
          </a:solidFill>
          <a:ln w="12700">
            <a:solidFill>
              <a:srgbClr val="DAD5CB"/>
            </a:solidFill>
            <a:prstDash val="solid"/>
          </a:ln>
        </p:spPr>
      </p:sp>
      <p:sp>
        <p:nvSpPr>
          <p:cNvPr id="26" name="Text 24"/>
          <p:cNvSpPr txBox="1"/>
          <p:nvPr/>
        </p:nvSpPr>
        <p:spPr>
          <a:xfrm>
            <a:off x="6126480" y="4800600"/>
            <a:ext cx="2651760" cy="548640"/>
          </a:xfrm>
          <a:prstGeom prst="rect">
            <a:avLst/>
          </a:prstGeom>
          <a:noFill/>
          <a:ln/>
        </p:spPr>
        <p:txBody>
          <a:bodyPr wrap="square" lIns="0" tIns="0" rIns="0" bIns="0" rtlCol="0" anchor="ctr"/>
          <a:lstStyle/>
          <a:p>
            <a:pPr algn="ctr" indent="0" marL="0">
              <a:buNone/>
            </a:pPr>
            <a:r>
              <a:rPr lang="en-US" sz="1150" b="1" dirty="0">
                <a:solidFill>
                  <a:srgbClr val="23408E"/>
                </a:solidFill>
                <a:latin typeface="Calibri" pitchFamily="34" charset="0"/>
                <a:ea typeface="Calibri" pitchFamily="34" charset="-122"/>
                <a:cs typeface="Calibri" pitchFamily="34" charset="-120"/>
              </a:rPr>
              <a:t>Adoption per agency</a:t>
            </a:r>
            <a:endParaRPr lang="en-US" sz="1150" dirty="0"/>
          </a:p>
        </p:txBody>
      </p:sp>
      <p:sp>
        <p:nvSpPr>
          <p:cNvPr id="27" name="Shape 25"/>
          <p:cNvSpPr/>
          <p:nvPr/>
        </p:nvSpPr>
        <p:spPr>
          <a:xfrm>
            <a:off x="8915400" y="4800600"/>
            <a:ext cx="2651760" cy="548640"/>
          </a:xfrm>
          <a:prstGeom prst="roundRect">
            <a:avLst>
              <a:gd name="adj" fmla="val 13333"/>
            </a:avLst>
          </a:prstGeom>
          <a:solidFill>
            <a:srgbClr val="FFFFFF"/>
          </a:solidFill>
          <a:ln w="12700">
            <a:solidFill>
              <a:srgbClr val="DAD5CB"/>
            </a:solidFill>
            <a:prstDash val="solid"/>
          </a:ln>
        </p:spPr>
      </p:sp>
      <p:sp>
        <p:nvSpPr>
          <p:cNvPr id="28" name="Text 26"/>
          <p:cNvSpPr txBox="1"/>
          <p:nvPr/>
        </p:nvSpPr>
        <p:spPr>
          <a:xfrm>
            <a:off x="8915400" y="4800600"/>
            <a:ext cx="2651760" cy="548640"/>
          </a:xfrm>
          <a:prstGeom prst="rect">
            <a:avLst/>
          </a:prstGeom>
          <a:noFill/>
          <a:ln/>
        </p:spPr>
        <p:txBody>
          <a:bodyPr wrap="square" lIns="0" tIns="0" rIns="0" bIns="0" rtlCol="0" anchor="ctr"/>
          <a:lstStyle/>
          <a:p>
            <a:pPr algn="ctr" indent="0" marL="0">
              <a:buNone/>
            </a:pPr>
            <a:r>
              <a:rPr lang="en-US" sz="1150" b="1" dirty="0">
                <a:solidFill>
                  <a:srgbClr val="23408E"/>
                </a:solidFill>
                <a:latin typeface="Calibri" pitchFamily="34" charset="0"/>
                <a:ea typeface="Calibri" pitchFamily="34" charset="-122"/>
                <a:cs typeface="Calibri" pitchFamily="34" charset="-120"/>
              </a:rPr>
              <a:t>Unanswered-question rate</a:t>
            </a:r>
            <a:endParaRPr lang="en-US" sz="1150" dirty="0"/>
          </a:p>
        </p:txBody>
      </p:sp>
      <p:sp>
        <p:nvSpPr>
          <p:cNvPr id="29" name="Text 27"/>
          <p:cNvSpPr txBox="1"/>
          <p:nvPr/>
        </p:nvSpPr>
        <p:spPr>
          <a:xfrm>
            <a:off x="548640" y="5532120"/>
            <a:ext cx="11064240" cy="685800"/>
          </a:xfrm>
          <a:prstGeom prst="rect">
            <a:avLst/>
          </a:prstGeom>
          <a:noFill/>
          <a:ln/>
        </p:spPr>
        <p:txBody>
          <a:bodyPr wrap="square" lIns="0" tIns="0" rIns="0" bIns="0" rtlCol="0" anchor="t"/>
          <a:lstStyle/>
          <a:p>
            <a:pPr indent="0" marL="0">
              <a:buNone/>
            </a:pPr>
            <a:r>
              <a:rPr lang="en-US" sz="1200" b="1" dirty="0">
                <a:solidFill>
                  <a:srgbClr val="1A1D21"/>
                </a:solidFill>
                <a:latin typeface="Calibri" pitchFamily="34" charset="0"/>
                <a:ea typeface="Calibri" pitchFamily="34" charset="-122"/>
                <a:cs typeface="Calibri" pitchFamily="34" charset="-120"/>
              </a:rPr>
              <a:t>Scale: </a:t>
            </a:r>
            <a:pPr indent="0" marL="0">
              <a:buNone/>
            </a:pPr>
            <a:r>
              <a:rPr lang="en-US" sz="1200" dirty="0">
                <a:solidFill>
                  <a:srgbClr val="1A1D21"/>
                </a:solidFill>
                <a:latin typeface="Calibri" pitchFamily="34" charset="0"/>
                <a:ea typeface="Calibri" pitchFamily="34" charset="-122"/>
                <a:cs typeface="Calibri" pitchFamily="34" charset="-120"/>
              </a:rPr>
              <a:t>1.3 million federal civil servants, the Sarawak civil service, other states and GLCs.   </a:t>
            </a:r>
            <a:pPr indent="0" marL="0">
              <a:buNone/>
            </a:pPr>
            <a:r>
              <a:rPr lang="en-US" sz="1200" b="1" dirty="0">
                <a:solidFill>
                  <a:srgbClr val="1A1D21"/>
                </a:solidFill>
                <a:latin typeface="Calibri" pitchFamily="34" charset="0"/>
                <a:ea typeface="Calibri" pitchFamily="34" charset="-122"/>
                <a:cs typeface="Calibri" pitchFamily="34" charset="-120"/>
              </a:rPr>
              <a:t>Economic case: </a:t>
            </a:r>
            <a:pPr indent="0" marL="0">
              <a:buNone/>
            </a:pPr>
            <a:r>
              <a:rPr lang="en-US" sz="1200" dirty="0">
                <a:solidFill>
                  <a:srgbClr val="1A1D21"/>
                </a:solidFill>
                <a:latin typeface="Calibri" pitchFamily="34" charset="0"/>
                <a:ea typeface="Calibri" pitchFamily="34" charset="-122"/>
                <a:cs typeface="Calibri" pitchFamily="34" charset="-120"/>
              </a:rPr>
              <a:t>minutes saved x questions per week x officers x hourly cost, with conservative inputs agreed with the pilot agency.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65760"/>
          </a:xfrm>
          <a:prstGeom prst="rect">
            <a:avLst/>
          </a:prstGeom>
          <a:noFill/>
          <a:ln/>
        </p:spPr>
        <p:txBody>
          <a:bodyPr wrap="square" lIns="0" tIns="0" rIns="0" bIns="0" rtlCol="0" anchor="ctr"/>
          <a:lstStyle/>
          <a:p>
            <a:pPr indent="0" marL="0">
              <a:buNone/>
            </a:pPr>
            <a:r>
              <a:rPr lang="en-US" sz="1600" b="1" dirty="0">
                <a:solidFill>
                  <a:srgbClr val="2F6BD9"/>
                </a:solidFill>
                <a:latin typeface="Calibri" pitchFamily="34" charset="0"/>
                <a:ea typeface="Calibri" pitchFamily="34" charset="-122"/>
                <a:cs typeface="Calibri" pitchFamily="34" charset="-120"/>
              </a:rPr>
              <a:t>07   </a:t>
            </a:r>
            <a:pPr indent="0" marL="0">
              <a:buNone/>
            </a:pPr>
            <a:r>
              <a:rPr lang="en-US" sz="1600" b="1" dirty="0">
                <a:solidFill>
                  <a:srgbClr val="1A1D21"/>
                </a:solidFill>
                <a:latin typeface="Calibri" pitchFamily="34" charset="0"/>
                <a:ea typeface="Calibri" pitchFamily="34" charset="-122"/>
                <a:cs typeface="Calibri" pitchFamily="34" charset="-120"/>
              </a:rPr>
              <a:t>Why Us + Closing Vision</a:t>
            </a:r>
            <a:endParaRPr lang="en-US" sz="1600" dirty="0"/>
          </a:p>
        </p:txBody>
      </p:sp>
      <p:sp>
        <p:nvSpPr>
          <p:cNvPr id="3" name="Text 1"/>
          <p:cNvSpPr txBox="1"/>
          <p:nvPr/>
        </p:nvSpPr>
        <p:spPr>
          <a:xfrm>
            <a:off x="9692640" y="6355080"/>
            <a:ext cx="2194560" cy="274320"/>
          </a:xfrm>
          <a:prstGeom prst="rect">
            <a:avLst/>
          </a:prstGeom>
          <a:noFill/>
          <a:ln/>
        </p:spPr>
        <p:txBody>
          <a:bodyPr wrap="square" lIns="0" tIns="0" rIns="0" bIns="0" rtlCol="0" anchor="ctr"/>
          <a:lstStyle/>
          <a:p>
            <a:pPr algn="r" indent="0" marL="0">
              <a:buNone/>
            </a:pPr>
            <a:r>
              <a:rPr lang="en-US" sz="1200" b="1" dirty="0">
                <a:solidFill>
                  <a:srgbClr val="23408E"/>
                </a:solidFill>
                <a:latin typeface="Cambria" pitchFamily="34" charset="0"/>
                <a:ea typeface="Cambria" pitchFamily="34" charset="-122"/>
                <a:cs typeface="Cambria" pitchFamily="34" charset="-120"/>
              </a:rPr>
              <a:t>MixUp Navigator</a:t>
            </a:r>
            <a:endParaRPr lang="en-US" sz="1200" dirty="0"/>
          </a:p>
        </p:txBody>
      </p:sp>
      <p:sp>
        <p:nvSpPr>
          <p:cNvPr id="4" name="Text 2"/>
          <p:cNvSpPr txBox="1"/>
          <p:nvPr/>
        </p:nvSpPr>
        <p:spPr>
          <a:xfrm>
            <a:off x="548640" y="777240"/>
            <a:ext cx="11064240" cy="822960"/>
          </a:xfrm>
          <a:prstGeom prst="rect">
            <a:avLst/>
          </a:prstGeom>
          <a:noFill/>
          <a:ln/>
        </p:spPr>
        <p:txBody>
          <a:bodyPr wrap="square" lIns="0" tIns="0" rIns="0" bIns="0" rtlCol="0" anchor="t"/>
          <a:lstStyle/>
          <a:p>
            <a:pPr indent="0" marL="0">
              <a:buNone/>
            </a:pPr>
            <a:r>
              <a:rPr lang="en-US" sz="3000" b="1" dirty="0">
                <a:solidFill>
                  <a:srgbClr val="16232A"/>
                </a:solidFill>
                <a:latin typeface="Cambria" pitchFamily="34" charset="0"/>
                <a:ea typeface="Cambria" pitchFamily="34" charset="-122"/>
                <a:cs typeface="Cambria" pitchFamily="34" charset="-120"/>
              </a:rPr>
              <a:t>We diagnosed the real problem, built it, and measured it.</a:t>
            </a:r>
            <a:endParaRPr lang="en-US" sz="3000" dirty="0"/>
          </a:p>
        </p:txBody>
      </p:sp>
      <p:sp>
        <p:nvSpPr>
          <p:cNvPr id="5" name="Text 3"/>
          <p:cNvSpPr txBox="1"/>
          <p:nvPr/>
        </p:nvSpPr>
        <p:spPr>
          <a:xfrm>
            <a:off x="548640" y="1600200"/>
            <a:ext cx="11064240" cy="457200"/>
          </a:xfrm>
          <a:prstGeom prst="rect">
            <a:avLst/>
          </a:prstGeom>
          <a:noFill/>
          <a:ln/>
        </p:spPr>
        <p:txBody>
          <a:bodyPr wrap="square" lIns="0" tIns="0" rIns="0" bIns="0" rtlCol="0" anchor="ctr"/>
          <a:lstStyle/>
          <a:p>
            <a:pPr indent="0" marL="0">
              <a:buNone/>
            </a:pPr>
            <a:r>
              <a:rPr lang="en-US" sz="1500" dirty="0">
                <a:solidFill>
                  <a:srgbClr val="5D636B"/>
                </a:solidFill>
                <a:latin typeface="Calibri" pitchFamily="34" charset="0"/>
                <a:ea typeface="Calibri" pitchFamily="34" charset="-122"/>
                <a:cs typeface="Calibri" pitchFamily="34" charset="-120"/>
              </a:rPr>
              <a:t>A working prototype, a fact-checked evidence base and a trust-first design.</a:t>
            </a:r>
            <a:endParaRPr lang="en-US" sz="1500" dirty="0"/>
          </a:p>
        </p:txBody>
      </p:sp>
      <p:sp>
        <p:nvSpPr>
          <p:cNvPr id="6" name="Shape 4"/>
          <p:cNvSpPr/>
          <p:nvPr/>
        </p:nvSpPr>
        <p:spPr>
          <a:xfrm>
            <a:off x="548640" y="2194560"/>
            <a:ext cx="3566160" cy="1554480"/>
          </a:xfrm>
          <a:prstGeom prst="roundRect">
            <a:avLst>
              <a:gd name="adj" fmla="val 7059"/>
            </a:avLst>
          </a:prstGeom>
          <a:solidFill>
            <a:srgbClr val="EEF1FA"/>
          </a:solidFill>
          <a:ln w="12700">
            <a:solidFill>
              <a:srgbClr val="EEF1FA"/>
            </a:solidFill>
            <a:prstDash val="solid"/>
          </a:ln>
        </p:spPr>
      </p:sp>
      <p:sp>
        <p:nvSpPr>
          <p:cNvPr id="7" name="Text 5"/>
          <p:cNvSpPr txBox="1"/>
          <p:nvPr/>
        </p:nvSpPr>
        <p:spPr>
          <a:xfrm>
            <a:off x="731520" y="2331720"/>
            <a:ext cx="3200400" cy="365760"/>
          </a:xfrm>
          <a:prstGeom prst="rect">
            <a:avLst/>
          </a:prstGeom>
          <a:noFill/>
          <a:ln/>
        </p:spPr>
        <p:txBody>
          <a:bodyPr wrap="square" lIns="0" tIns="0" rIns="0" bIns="0" rtlCol="0" anchor="ctr"/>
          <a:lstStyle/>
          <a:p>
            <a:pPr indent="0" marL="0">
              <a:buNone/>
            </a:pPr>
            <a:r>
              <a:rPr lang="en-US" sz="1300" b="1" dirty="0">
                <a:solidFill>
                  <a:srgbClr val="16232A"/>
                </a:solidFill>
                <a:latin typeface="Calibri" pitchFamily="34" charset="0"/>
                <a:ea typeface="Calibri" pitchFamily="34" charset="-122"/>
                <a:cs typeface="Calibri" pitchFamily="34" charset="-120"/>
              </a:rPr>
              <a:t>01  Correct diagnosis</a:t>
            </a:r>
            <a:endParaRPr lang="en-US" sz="1300" dirty="0"/>
          </a:p>
        </p:txBody>
      </p:sp>
      <p:sp>
        <p:nvSpPr>
          <p:cNvPr id="8" name="Text 6"/>
          <p:cNvSpPr txBox="1"/>
          <p:nvPr/>
        </p:nvSpPr>
        <p:spPr>
          <a:xfrm>
            <a:off x="731520" y="2697480"/>
            <a:ext cx="3200400" cy="914400"/>
          </a:xfrm>
          <a:prstGeom prst="rect">
            <a:avLst/>
          </a:prstGeom>
          <a:noFill/>
          <a:ln/>
        </p:spPr>
        <p:txBody>
          <a:bodyPr wrap="square" lIns="0" tIns="0" rIns="0" bIns="0" rtlCol="0" anchor="t"/>
          <a:lstStyle/>
          <a:p>
            <a:pPr indent="0" marL="0">
              <a:buNone/>
            </a:pPr>
            <a:r>
              <a:rPr lang="en-US" sz="1100" dirty="0">
                <a:solidFill>
                  <a:srgbClr val="5D636B"/>
                </a:solidFill>
                <a:latin typeface="Calibri" pitchFamily="34" charset="0"/>
                <a:ea typeface="Calibri" pitchFamily="34" charset="-122"/>
                <a:cs typeface="Calibri" pitchFamily="34" charset="-120"/>
              </a:rPr>
              <a:t>Our research found the gap is validity, not search. We verified every claim and dropped the weak statistics.</a:t>
            </a:r>
            <a:endParaRPr lang="en-US" sz="1100" dirty="0"/>
          </a:p>
        </p:txBody>
      </p:sp>
      <p:sp>
        <p:nvSpPr>
          <p:cNvPr id="9" name="Shape 7"/>
          <p:cNvSpPr/>
          <p:nvPr/>
        </p:nvSpPr>
        <p:spPr>
          <a:xfrm>
            <a:off x="4297680" y="2194560"/>
            <a:ext cx="3566160" cy="1554480"/>
          </a:xfrm>
          <a:prstGeom prst="roundRect">
            <a:avLst>
              <a:gd name="adj" fmla="val 7059"/>
            </a:avLst>
          </a:prstGeom>
          <a:solidFill>
            <a:srgbClr val="EEF1FA"/>
          </a:solidFill>
          <a:ln w="12700">
            <a:solidFill>
              <a:srgbClr val="EEF1FA"/>
            </a:solidFill>
            <a:prstDash val="solid"/>
          </a:ln>
        </p:spPr>
      </p:sp>
      <p:sp>
        <p:nvSpPr>
          <p:cNvPr id="10" name="Text 8"/>
          <p:cNvSpPr txBox="1"/>
          <p:nvPr/>
        </p:nvSpPr>
        <p:spPr>
          <a:xfrm>
            <a:off x="4480560" y="2331720"/>
            <a:ext cx="3200400" cy="365760"/>
          </a:xfrm>
          <a:prstGeom prst="rect">
            <a:avLst/>
          </a:prstGeom>
          <a:noFill/>
          <a:ln/>
        </p:spPr>
        <p:txBody>
          <a:bodyPr wrap="square" lIns="0" tIns="0" rIns="0" bIns="0" rtlCol="0" anchor="ctr"/>
          <a:lstStyle/>
          <a:p>
            <a:pPr indent="0" marL="0">
              <a:buNone/>
            </a:pPr>
            <a:r>
              <a:rPr lang="en-US" sz="1300" b="1" dirty="0">
                <a:solidFill>
                  <a:srgbClr val="16232A"/>
                </a:solidFill>
                <a:latin typeface="Calibri" pitchFamily="34" charset="0"/>
                <a:ea typeface="Calibri" pitchFamily="34" charset="-122"/>
                <a:cs typeface="Calibri" pitchFamily="34" charset="-120"/>
              </a:rPr>
              <a:t>02  Built and evaluated</a:t>
            </a:r>
            <a:endParaRPr lang="en-US" sz="1300" dirty="0"/>
          </a:p>
        </p:txBody>
      </p:sp>
      <p:sp>
        <p:nvSpPr>
          <p:cNvPr id="11" name="Text 9"/>
          <p:cNvSpPr txBox="1"/>
          <p:nvPr/>
        </p:nvSpPr>
        <p:spPr>
          <a:xfrm>
            <a:off x="4480560" y="2697480"/>
            <a:ext cx="3200400" cy="914400"/>
          </a:xfrm>
          <a:prstGeom prst="rect">
            <a:avLst/>
          </a:prstGeom>
          <a:noFill/>
          <a:ln/>
        </p:spPr>
        <p:txBody>
          <a:bodyPr wrap="square" lIns="0" tIns="0" rIns="0" bIns="0" rtlCol="0" anchor="t"/>
          <a:lstStyle/>
          <a:p>
            <a:pPr indent="0" marL="0">
              <a:buNone/>
            </a:pPr>
            <a:r>
              <a:rPr lang="en-US" sz="1100" dirty="0">
                <a:solidFill>
                  <a:srgbClr val="5D636B"/>
                </a:solidFill>
                <a:latin typeface="Calibri" pitchFamily="34" charset="0"/>
                <a:ea typeface="Calibri" pitchFamily="34" charset="-122"/>
                <a:cs typeface="Calibri" pitchFamily="34" charset="-120"/>
              </a:rPr>
              <a:t>A working prototype with a 30-question evaluation against a plain chatbot, not slides alone.</a:t>
            </a:r>
            <a:endParaRPr lang="en-US" sz="1100" dirty="0"/>
          </a:p>
        </p:txBody>
      </p:sp>
      <p:sp>
        <p:nvSpPr>
          <p:cNvPr id="12" name="Shape 10"/>
          <p:cNvSpPr/>
          <p:nvPr/>
        </p:nvSpPr>
        <p:spPr>
          <a:xfrm>
            <a:off x="8046720" y="2194560"/>
            <a:ext cx="3566160" cy="1554480"/>
          </a:xfrm>
          <a:prstGeom prst="roundRect">
            <a:avLst>
              <a:gd name="adj" fmla="val 7059"/>
            </a:avLst>
          </a:prstGeom>
          <a:solidFill>
            <a:srgbClr val="EEF1FA"/>
          </a:solidFill>
          <a:ln w="12700">
            <a:solidFill>
              <a:srgbClr val="EEF1FA"/>
            </a:solidFill>
            <a:prstDash val="solid"/>
          </a:ln>
        </p:spPr>
      </p:sp>
      <p:sp>
        <p:nvSpPr>
          <p:cNvPr id="13" name="Text 11"/>
          <p:cNvSpPr txBox="1"/>
          <p:nvPr/>
        </p:nvSpPr>
        <p:spPr>
          <a:xfrm>
            <a:off x="8229600" y="2331720"/>
            <a:ext cx="3200400" cy="365760"/>
          </a:xfrm>
          <a:prstGeom prst="rect">
            <a:avLst/>
          </a:prstGeom>
          <a:noFill/>
          <a:ln/>
        </p:spPr>
        <p:txBody>
          <a:bodyPr wrap="square" lIns="0" tIns="0" rIns="0" bIns="0" rtlCol="0" anchor="ctr"/>
          <a:lstStyle/>
          <a:p>
            <a:pPr indent="0" marL="0">
              <a:buNone/>
            </a:pPr>
            <a:r>
              <a:rPr lang="en-US" sz="1300" b="1" dirty="0">
                <a:solidFill>
                  <a:srgbClr val="16232A"/>
                </a:solidFill>
                <a:latin typeface="Calibri" pitchFamily="34" charset="0"/>
                <a:ea typeface="Calibri" pitchFamily="34" charset="-122"/>
                <a:cs typeface="Calibri" pitchFamily="34" charset="-120"/>
              </a:rPr>
              <a:t>03  Trust-first design</a:t>
            </a:r>
            <a:endParaRPr lang="en-US" sz="1300" dirty="0"/>
          </a:p>
        </p:txBody>
      </p:sp>
      <p:sp>
        <p:nvSpPr>
          <p:cNvPr id="14" name="Text 12"/>
          <p:cNvSpPr txBox="1"/>
          <p:nvPr/>
        </p:nvSpPr>
        <p:spPr>
          <a:xfrm>
            <a:off x="8229600" y="2697480"/>
            <a:ext cx="3200400" cy="914400"/>
          </a:xfrm>
          <a:prstGeom prst="rect">
            <a:avLst/>
          </a:prstGeom>
          <a:noFill/>
          <a:ln/>
        </p:spPr>
        <p:txBody>
          <a:bodyPr wrap="square" lIns="0" tIns="0" rIns="0" bIns="0" rtlCol="0" anchor="t"/>
          <a:lstStyle/>
          <a:p>
            <a:pPr indent="0" marL="0">
              <a:buNone/>
            </a:pPr>
            <a:r>
              <a:rPr lang="en-US" sz="1100" dirty="0">
                <a:solidFill>
                  <a:srgbClr val="5D636B"/>
                </a:solidFill>
                <a:latin typeface="Calibri" pitchFamily="34" charset="0"/>
                <a:ea typeface="Calibri" pitchFamily="34" charset="-122"/>
                <a:cs typeface="Calibri" pitchFamily="34" charset="-120"/>
              </a:rPr>
              <a:t>Human verification before any status changes, clearance enforced in code, offline by default.</a:t>
            </a:r>
            <a:endParaRPr lang="en-US" sz="1100" dirty="0"/>
          </a:p>
        </p:txBody>
      </p:sp>
      <p:sp>
        <p:nvSpPr>
          <p:cNvPr id="15" name="Shape 13"/>
          <p:cNvSpPr/>
          <p:nvPr/>
        </p:nvSpPr>
        <p:spPr>
          <a:xfrm>
            <a:off x="548640" y="3977640"/>
            <a:ext cx="5486400" cy="1371600"/>
          </a:xfrm>
          <a:prstGeom prst="roundRect">
            <a:avLst>
              <a:gd name="adj" fmla="val 8000"/>
            </a:avLst>
          </a:prstGeom>
          <a:solidFill>
            <a:srgbClr val="E2F0E7"/>
          </a:solidFill>
          <a:ln w="12700">
            <a:solidFill>
              <a:srgbClr val="E2F0E7"/>
            </a:solidFill>
            <a:prstDash val="solid"/>
          </a:ln>
        </p:spPr>
      </p:sp>
      <p:sp>
        <p:nvSpPr>
          <p:cNvPr id="16" name="Text 14"/>
          <p:cNvSpPr txBox="1"/>
          <p:nvPr/>
        </p:nvSpPr>
        <p:spPr>
          <a:xfrm>
            <a:off x="731520" y="4114800"/>
            <a:ext cx="5120640" cy="365760"/>
          </a:xfrm>
          <a:prstGeom prst="rect">
            <a:avLst/>
          </a:prstGeom>
          <a:noFill/>
          <a:ln/>
        </p:spPr>
        <p:txBody>
          <a:bodyPr wrap="square" lIns="0" tIns="0" rIns="0" bIns="0" rtlCol="0" anchor="ctr"/>
          <a:lstStyle/>
          <a:p>
            <a:pPr indent="0" marL="0">
              <a:buNone/>
            </a:pPr>
            <a:r>
              <a:rPr lang="en-US" sz="1300" b="1" dirty="0">
                <a:solidFill>
                  <a:srgbClr val="16232A"/>
                </a:solidFill>
                <a:latin typeface="Calibri" pitchFamily="34" charset="0"/>
                <a:ea typeface="Calibri" pitchFamily="34" charset="-122"/>
                <a:cs typeface="Calibri" pitchFamily="34" charset="-120"/>
              </a:rPr>
              <a:t>Immediate next milestone</a:t>
            </a:r>
            <a:endParaRPr lang="en-US" sz="1300" dirty="0"/>
          </a:p>
        </p:txBody>
      </p:sp>
      <p:sp>
        <p:nvSpPr>
          <p:cNvPr id="17" name="Text 15"/>
          <p:cNvSpPr txBox="1"/>
          <p:nvPr/>
        </p:nvSpPr>
        <p:spPr>
          <a:xfrm>
            <a:off x="731520" y="4480560"/>
            <a:ext cx="5120640" cy="731520"/>
          </a:xfrm>
          <a:prstGeom prst="rect">
            <a:avLst/>
          </a:prstGeom>
          <a:noFill/>
          <a:ln/>
        </p:spPr>
        <p:txBody>
          <a:bodyPr wrap="square" lIns="0" tIns="0" rIns="0" bIns="0" rtlCol="0" anchor="t"/>
          <a:lstStyle/>
          <a:p>
            <a:pPr indent="0" marL="0">
              <a:buNone/>
            </a:pPr>
            <a:r>
              <a:rPr lang="en-US" sz="1150" dirty="0">
                <a:solidFill>
                  <a:srgbClr val="5D636B"/>
                </a:solidFill>
                <a:latin typeface="Calibri" pitchFamily="34" charset="0"/>
                <a:ea typeface="Calibri" pitchFamily="34" charset="-122"/>
                <a:cs typeface="Calibri" pitchFamily="34" charset="-120"/>
              </a:rPr>
              <a:t>Pilot MixUp Navigator with one agency cluster on 50-150 real public circulars, and publish the before/after numbers.</a:t>
            </a:r>
            <a:endParaRPr lang="en-US" sz="1150" dirty="0"/>
          </a:p>
        </p:txBody>
      </p:sp>
      <p:sp>
        <p:nvSpPr>
          <p:cNvPr id="18" name="Shape 16"/>
          <p:cNvSpPr/>
          <p:nvPr/>
        </p:nvSpPr>
        <p:spPr>
          <a:xfrm>
            <a:off x="6217920" y="3977640"/>
            <a:ext cx="5394960" cy="1371600"/>
          </a:xfrm>
          <a:prstGeom prst="roundRect">
            <a:avLst>
              <a:gd name="adj" fmla="val 8000"/>
            </a:avLst>
          </a:prstGeom>
          <a:solidFill>
            <a:srgbClr val="FAEDD0"/>
          </a:solidFill>
          <a:ln w="12700">
            <a:solidFill>
              <a:srgbClr val="FAEDD0"/>
            </a:solidFill>
            <a:prstDash val="solid"/>
          </a:ln>
        </p:spPr>
      </p:sp>
      <p:sp>
        <p:nvSpPr>
          <p:cNvPr id="19" name="Text 17"/>
          <p:cNvSpPr txBox="1"/>
          <p:nvPr/>
        </p:nvSpPr>
        <p:spPr>
          <a:xfrm>
            <a:off x="6400800" y="4114800"/>
            <a:ext cx="5029200" cy="365760"/>
          </a:xfrm>
          <a:prstGeom prst="rect">
            <a:avLst/>
          </a:prstGeom>
          <a:noFill/>
          <a:ln/>
        </p:spPr>
        <p:txBody>
          <a:bodyPr wrap="square" lIns="0" tIns="0" rIns="0" bIns="0" rtlCol="0" anchor="ctr"/>
          <a:lstStyle/>
          <a:p>
            <a:pPr indent="0" marL="0">
              <a:buNone/>
            </a:pPr>
            <a:r>
              <a:rPr lang="en-US" sz="1300" b="1" dirty="0">
                <a:solidFill>
                  <a:srgbClr val="16232A"/>
                </a:solidFill>
                <a:latin typeface="Calibri" pitchFamily="34" charset="0"/>
                <a:ea typeface="Calibri" pitchFamily="34" charset="-122"/>
                <a:cs typeface="Calibri" pitchFamily="34" charset="-120"/>
              </a:rPr>
              <a:t>Support we need</a:t>
            </a:r>
            <a:endParaRPr lang="en-US" sz="1300" dirty="0"/>
          </a:p>
        </p:txBody>
      </p:sp>
      <p:sp>
        <p:nvSpPr>
          <p:cNvPr id="20" name="Text 18"/>
          <p:cNvSpPr txBox="1"/>
          <p:nvPr/>
        </p:nvSpPr>
        <p:spPr>
          <a:xfrm>
            <a:off x="6400800" y="4480560"/>
            <a:ext cx="5029200" cy="731520"/>
          </a:xfrm>
          <a:prstGeom prst="rect">
            <a:avLst/>
          </a:prstGeom>
          <a:noFill/>
          <a:ln/>
        </p:spPr>
        <p:txBody>
          <a:bodyPr wrap="square" lIns="0" tIns="0" rIns="0" bIns="0" rtlCol="0" anchor="t"/>
          <a:lstStyle/>
          <a:p>
            <a:pPr indent="0" marL="0">
              <a:buNone/>
            </a:pPr>
            <a:r>
              <a:rPr lang="en-US" sz="1150" dirty="0">
                <a:solidFill>
                  <a:srgbClr val="5D636B"/>
                </a:solidFill>
                <a:latin typeface="Calibri" pitchFamily="34" charset="0"/>
                <a:ea typeface="Calibri" pitchFamily="34" charset="-122"/>
                <a:cs typeface="Calibri" pitchFamily="34" charset="-120"/>
              </a:rPr>
              <a:t>A pilot agency  |  access to a public circular corpus  |  feedback from JPA and the Sarawak civil service</a:t>
            </a:r>
            <a:endParaRPr lang="en-US" sz="1150" dirty="0"/>
          </a:p>
        </p:txBody>
      </p:sp>
      <p:sp>
        <p:nvSpPr>
          <p:cNvPr id="21" name="Text 19"/>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2000" b="1" dirty="0">
                <a:solidFill>
                  <a:srgbClr val="23408E"/>
                </a:solidFill>
                <a:latin typeface="Cambria" pitchFamily="34" charset="0"/>
                <a:ea typeface="Cambria" pitchFamily="34" charset="-122"/>
                <a:cs typeface="Cambria" pitchFamily="34" charset="-120"/>
              </a:rPr>
              <a:t>Every officer, the current rule, with proof. Never a cancelled circular again.</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32A"/>
        </a:solidFill>
      </p:bgPr>
    </p:bg>
    <p:spTree>
      <p:nvGrpSpPr>
        <p:cNvPr id="1" name=""/>
        <p:cNvGrpSpPr/>
        <p:nvPr/>
      </p:nvGrpSpPr>
      <p:grpSpPr>
        <a:xfrm>
          <a:off x="0" y="0"/>
          <a:ext cx="0" cy="0"/>
          <a:chOff x="0" y="0"/>
          <a:chExt cx="0" cy="0"/>
        </a:xfrm>
      </p:grpSpPr>
      <p:sp>
        <p:nvSpPr>
          <p:cNvPr id="2" name="Text 0"/>
          <p:cNvSpPr txBox="1"/>
          <p:nvPr/>
        </p:nvSpPr>
        <p:spPr>
          <a:xfrm>
            <a:off x="731520" y="822960"/>
            <a:ext cx="54864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1"/>
          <p:cNvSpPr txBox="1"/>
          <p:nvPr/>
        </p:nvSpPr>
        <p:spPr>
          <a:xfrm>
            <a:off x="731520" y="1691640"/>
            <a:ext cx="5486400" cy="457200"/>
          </a:xfrm>
          <a:prstGeom prst="rect">
            <a:avLst/>
          </a:prstGeom>
          <a:noFill/>
          <a:ln/>
        </p:spPr>
        <p:txBody>
          <a:bodyPr wrap="square" lIns="0" tIns="0" rIns="0" bIns="0" rtlCol="0" anchor="ctr"/>
          <a:lstStyle/>
          <a:p>
            <a:pPr indent="0" marL="0">
              <a:buNone/>
            </a:pPr>
            <a:r>
              <a:rPr lang="en-US" sz="1800" b="1" dirty="0">
                <a:solidFill>
                  <a:srgbClr val="E0A93A"/>
                </a:solidFill>
                <a:latin typeface="Calibri" pitchFamily="34" charset="0"/>
                <a:ea typeface="Calibri" pitchFamily="34" charset="-122"/>
                <a:cs typeface="Calibri" pitchFamily="34" charset="-120"/>
              </a:rPr>
              <a:t>MixUp Navigator prototype</a:t>
            </a:r>
            <a:endParaRPr lang="en-US" sz="1800" dirty="0"/>
          </a:p>
        </p:txBody>
      </p:sp>
      <p:sp>
        <p:nvSpPr>
          <p:cNvPr id="4" name="Text 2"/>
          <p:cNvSpPr txBox="1"/>
          <p:nvPr/>
        </p:nvSpPr>
        <p:spPr>
          <a:xfrm>
            <a:off x="731520" y="2240280"/>
            <a:ext cx="5120640" cy="2194560"/>
          </a:xfrm>
          <a:prstGeom prst="rect">
            <a:avLst/>
          </a:prstGeom>
          <a:noFill/>
          <a:ln/>
        </p:spPr>
        <p:txBody>
          <a:bodyPr wrap="square" rtlCol="0" anchor="ctr"/>
          <a:lstStyle/>
          <a:p>
            <a:pPr marL="342900" indent="-342900">
              <a:spcAft>
                <a:spcPts val="600"/>
              </a:spcAft>
              <a:buSzPct val="100000"/>
              <a:buChar char="•"/>
            </a:pPr>
            <a:r>
              <a:rPr lang="en-US" sz="1500" dirty="0">
                <a:solidFill>
                  <a:srgbClr val="EEF2FF"/>
                </a:solidFill>
                <a:latin typeface="Calibri" pitchFamily="34" charset="0"/>
                <a:ea typeface="Calibri" pitchFamily="34" charset="-122"/>
                <a:cs typeface="Calibri" pitchFamily="34" charset="-120"/>
              </a:rPr>
              <a:t>Officer mode: ask, sources, lineage, updates</a:t>
            </a:r>
            <a:endParaRPr lang="en-US" sz="1500" dirty="0"/>
          </a:p>
          <a:p>
            <a:pPr marL="342900" indent="-342900">
              <a:spcAft>
                <a:spcPts val="600"/>
              </a:spcAft>
              <a:buSzPct val="100000"/>
              <a:buChar char="•"/>
            </a:pPr>
            <a:r>
              <a:rPr lang="en-US" sz="1500" dirty="0">
                <a:solidFill>
                  <a:srgbClr val="EEF2FF"/>
                </a:solidFill>
                <a:latin typeface="Calibri" pitchFamily="34" charset="0"/>
                <a:ea typeface="Calibri" pitchFamily="34" charset="-122"/>
                <a:cs typeface="Calibri" pitchFamily="34" charset="-120"/>
              </a:rPr>
              <a:t>Publisher mode: upload, verify relations, build signed packs</a:t>
            </a:r>
            <a:endParaRPr lang="en-US" sz="1500" dirty="0"/>
          </a:p>
          <a:p>
            <a:pPr marL="342900" indent="-342900">
              <a:spcAft>
                <a:spcPts val="600"/>
              </a:spcAft>
              <a:buSzPct val="100000"/>
              <a:buChar char="•"/>
            </a:pPr>
            <a:r>
              <a:rPr lang="en-US" sz="1500" dirty="0">
                <a:solidFill>
                  <a:srgbClr val="EEF2FF"/>
                </a:solidFill>
                <a:latin typeface="Calibri" pitchFamily="34" charset="0"/>
                <a:ea typeface="Calibri" pitchFamily="34" charset="-122"/>
                <a:cs typeface="Calibri" pitchFamily="34" charset="-120"/>
              </a:rPr>
              <a:t>Evaluation page: typical chatbot vs MixUp Navigator</a:t>
            </a:r>
            <a:endParaRPr lang="en-US" sz="1500" dirty="0"/>
          </a:p>
          <a:p>
            <a:pPr marL="342900" indent="-342900">
              <a:spcAft>
                <a:spcPts val="600"/>
              </a:spcAft>
              <a:buSzPct val="100000"/>
              <a:buChar char="•"/>
            </a:pPr>
            <a:r>
              <a:rPr lang="en-US" sz="1500" dirty="0">
                <a:solidFill>
                  <a:srgbClr val="EEF2FF"/>
                </a:solidFill>
                <a:latin typeface="Calibri" pitchFamily="34" charset="0"/>
                <a:ea typeface="Calibri" pitchFamily="34" charset="-122"/>
                <a:cs typeface="Calibri" pitchFamily="34" charset="-120"/>
              </a:rPr>
              <a:t>Runs on a laptop, offline, with synthetic circulars</a:t>
            </a:r>
            <a:endParaRPr lang="en-US" sz="1500" dirty="0"/>
          </a:p>
        </p:txBody>
      </p:sp>
      <p:sp>
        <p:nvSpPr>
          <p:cNvPr id="5" name="Text 3"/>
          <p:cNvSpPr txBox="1"/>
          <p:nvPr/>
        </p:nvSpPr>
        <p:spPr>
          <a:xfrm>
            <a:off x="731520" y="4754880"/>
            <a:ext cx="5486400" cy="365760"/>
          </a:xfrm>
          <a:prstGeom prst="rect">
            <a:avLst/>
          </a:prstGeom>
          <a:noFill/>
          <a:ln/>
        </p:spPr>
        <p:txBody>
          <a:bodyPr wrap="square" lIns="0" tIns="0" rIns="0" bIns="0" rtlCol="0" anchor="ctr"/>
          <a:lstStyle/>
          <a:p>
            <a:pPr indent="0" marL="0">
              <a:buNone/>
            </a:pPr>
            <a:r>
              <a:rPr lang="en-US" sz="1200" dirty="0">
                <a:solidFill>
                  <a:srgbClr val="C7D0E0"/>
                </a:solidFill>
                <a:latin typeface="Calibri" pitchFamily="34" charset="0"/>
                <a:ea typeface="Calibri" pitchFamily="34" charset="-122"/>
                <a:cs typeface="Calibri" pitchFamily="34" charset="-120"/>
              </a:rPr>
              <a:t>Repo: github.com/Rogerkkong/AWS-Kuching-Community-Day</a:t>
            </a:r>
            <a:endParaRPr lang="en-US" sz="1200" dirty="0"/>
          </a:p>
        </p:txBody>
      </p:sp>
      <p:sp>
        <p:nvSpPr>
          <p:cNvPr id="6" name="Shape 4"/>
          <p:cNvSpPr/>
          <p:nvPr/>
        </p:nvSpPr>
        <p:spPr>
          <a:xfrm>
            <a:off x="6309360" y="1005840"/>
            <a:ext cx="5394960" cy="3383280"/>
          </a:xfrm>
          <a:prstGeom prst="roundRect">
            <a:avLst>
              <a:gd name="adj" fmla="val 3243"/>
            </a:avLst>
          </a:prstGeom>
          <a:solidFill>
            <a:srgbClr val="0F1A20"/>
          </a:solidFill>
          <a:ln w="12700">
            <a:solidFill>
              <a:srgbClr val="2C3E48"/>
            </a:solidFill>
            <a:prstDash val="solid"/>
          </a:ln>
        </p:spPr>
      </p:sp>
      <p:pic>
        <p:nvPicPr>
          <p:cNvPr id="7" name="Image 0" descr="/tmp/claude-0/-home-user-AWS-Kuching-Community-Day/d7fbe435-6e05-5d7a-a23e-e545bdd3a836/scratchpad/smoke/00-home.png">    </p:cNvPr>
          <p:cNvPicPr>
            <a:picLocks noChangeAspect="1"/>
          </p:cNvPicPr>
          <p:nvPr/>
        </p:nvPicPr>
        <p:blipFill>
          <a:blip r:embed="rId1"/>
          <a:srcRect l="0" r="0" t="0" b="0"/>
          <a:stretch/>
        </p:blipFill>
        <p:spPr>
          <a:xfrm>
            <a:off x="6400800" y="1097280"/>
            <a:ext cx="5212080" cy="3200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365760"/>
          </a:xfrm>
          <a:prstGeom prst="rect">
            <a:avLst/>
          </a:prstGeom>
          <a:noFill/>
          <a:ln/>
        </p:spPr>
        <p:txBody>
          <a:bodyPr wrap="square" lIns="0" tIns="0" rIns="0" bIns="0" rtlCol="0" anchor="ctr"/>
          <a:lstStyle/>
          <a:p>
            <a:pPr indent="0" marL="0">
              <a:buNone/>
            </a:pPr>
            <a:r>
              <a:rPr lang="en-US" sz="1600" b="1" dirty="0">
                <a:solidFill>
                  <a:srgbClr val="2F6BD9"/>
                </a:solidFill>
                <a:latin typeface="Calibri" pitchFamily="34" charset="0"/>
                <a:ea typeface="Calibri" pitchFamily="34" charset="-122"/>
                <a:cs typeface="Calibri" pitchFamily="34" charset="-120"/>
              </a:rPr>
              <a:t>A   </a:t>
            </a:r>
            <a:pPr indent="0" marL="0">
              <a:buNone/>
            </a:pPr>
            <a:r>
              <a:rPr lang="en-US" sz="1600" b="1" dirty="0">
                <a:solidFill>
                  <a:srgbClr val="1A1D21"/>
                </a:solidFill>
                <a:latin typeface="Calibri" pitchFamily="34" charset="0"/>
                <a:ea typeface="Calibri" pitchFamily="34" charset="-122"/>
                <a:cs typeface="Calibri" pitchFamily="34" charset="-120"/>
              </a:rPr>
              <a:t>Research and sources</a:t>
            </a:r>
            <a:endParaRPr lang="en-US" sz="1600" dirty="0"/>
          </a:p>
        </p:txBody>
      </p:sp>
      <p:sp>
        <p:nvSpPr>
          <p:cNvPr id="3" name="Text 1"/>
          <p:cNvSpPr txBox="1"/>
          <p:nvPr/>
        </p:nvSpPr>
        <p:spPr>
          <a:xfrm>
            <a:off x="9692640" y="6355080"/>
            <a:ext cx="2194560" cy="274320"/>
          </a:xfrm>
          <a:prstGeom prst="rect">
            <a:avLst/>
          </a:prstGeom>
          <a:noFill/>
          <a:ln/>
        </p:spPr>
        <p:txBody>
          <a:bodyPr wrap="square" lIns="0" tIns="0" rIns="0" bIns="0" rtlCol="0" anchor="ctr"/>
          <a:lstStyle/>
          <a:p>
            <a:pPr algn="r" indent="0" marL="0">
              <a:buNone/>
            </a:pPr>
            <a:r>
              <a:rPr lang="en-US" sz="1200" b="1" dirty="0">
                <a:solidFill>
                  <a:srgbClr val="23408E"/>
                </a:solidFill>
                <a:latin typeface="Cambria" pitchFamily="34" charset="0"/>
                <a:ea typeface="Cambria" pitchFamily="34" charset="-122"/>
                <a:cs typeface="Cambria" pitchFamily="34" charset="-120"/>
              </a:rPr>
              <a:t>MixUp Navigator</a:t>
            </a:r>
            <a:endParaRPr lang="en-US" sz="1200" dirty="0"/>
          </a:p>
        </p:txBody>
      </p:sp>
      <p:sp>
        <p:nvSpPr>
          <p:cNvPr id="4" name="Text 2"/>
          <p:cNvSpPr txBox="1"/>
          <p:nvPr/>
        </p:nvSpPr>
        <p:spPr>
          <a:xfrm>
            <a:off x="548640" y="777240"/>
            <a:ext cx="11064240" cy="822960"/>
          </a:xfrm>
          <a:prstGeom prst="rect">
            <a:avLst/>
          </a:prstGeom>
          <a:noFill/>
          <a:ln/>
        </p:spPr>
        <p:txBody>
          <a:bodyPr wrap="square" lIns="0" tIns="0" rIns="0" bIns="0" rtlCol="0" anchor="t"/>
          <a:lstStyle/>
          <a:p>
            <a:pPr indent="0" marL="0">
              <a:buNone/>
            </a:pPr>
            <a:r>
              <a:rPr lang="en-US" sz="2600" b="1" dirty="0">
                <a:solidFill>
                  <a:srgbClr val="16232A"/>
                </a:solidFill>
                <a:latin typeface="Cambria" pitchFamily="34" charset="0"/>
                <a:ea typeface="Cambria" pitchFamily="34" charset="-122"/>
                <a:cs typeface="Cambria" pitchFamily="34" charset="-120"/>
              </a:rPr>
              <a:t>What we checked, and where it comes from.</a:t>
            </a:r>
            <a:endParaRPr lang="en-US" sz="2600" dirty="0"/>
          </a:p>
        </p:txBody>
      </p:sp>
      <p:sp>
        <p:nvSpPr>
          <p:cNvPr id="5" name="Text 3"/>
          <p:cNvSpPr txBox="1"/>
          <p:nvPr/>
        </p:nvSpPr>
        <p:spPr>
          <a:xfrm>
            <a:off x="548640" y="1554480"/>
            <a:ext cx="11064240" cy="4572000"/>
          </a:xfrm>
          <a:prstGeom prst="rect">
            <a:avLst/>
          </a:prstGeom>
          <a:noFill/>
          <a:ln/>
        </p:spPr>
        <p:txBody>
          <a:bodyPr wrap="square" rtlCol="0" anchor="t"/>
          <a:lstStyle/>
          <a:p>
            <a:pPr marL="342900" indent="-342900">
              <a:spcAft>
                <a:spcPts val="500"/>
              </a:spcAft>
              <a:buSzPct val="100000"/>
              <a:buChar char="•"/>
            </a:pPr>
            <a:r>
              <a:rPr lang="en-US" sz="1250" dirty="0">
                <a:solidFill>
                  <a:srgbClr val="1A1D21"/>
                </a:solidFill>
                <a:latin typeface="Calibri" pitchFamily="34" charset="0"/>
                <a:ea typeface="Calibri" pitchFamily="34" charset="-122"/>
                <a:cs typeface="Calibri" pitchFamily="34" charset="-120"/>
              </a:rPr>
              <a:t>Two teammate research reports (problem space; competitive analysis) plus an independent fact-check of every statistic; weak or unverifiable claims were dropped.</a:t>
            </a:r>
            <a:endParaRPr lang="en-US" sz="1250" dirty="0"/>
          </a:p>
          <a:p>
            <a:pPr marL="342900" indent="-342900">
              <a:spcAft>
                <a:spcPts val="500"/>
              </a:spcAft>
              <a:buSzPct val="100000"/>
              <a:buChar char="•"/>
            </a:pPr>
            <a:r>
              <a:rPr lang="en-US" sz="1250" dirty="0">
                <a:solidFill>
                  <a:srgbClr val="1A1D21"/>
                </a:solidFill>
                <a:latin typeface="Calibri" pitchFamily="34" charset="0"/>
                <a:ea typeface="Calibri" pitchFamily="34" charset="-122"/>
                <a:cs typeface="Calibri" pitchFamily="34" charset="-120"/>
              </a:rPr>
              <a:t>ISEAS Perspective 2026/44: Malaysia's federal civil service of about 1.3 million.</a:t>
            </a:r>
            <a:endParaRPr lang="en-US" sz="1250" dirty="0"/>
          </a:p>
          <a:p>
            <a:pPr marL="342900" indent="-342900">
              <a:spcAft>
                <a:spcPts val="500"/>
              </a:spcAft>
              <a:buSzPct val="100000"/>
              <a:buChar char="•"/>
            </a:pPr>
            <a:r>
              <a:rPr lang="en-US" sz="1250" dirty="0">
                <a:solidFill>
                  <a:srgbClr val="1A1D21"/>
                </a:solidFill>
                <a:latin typeface="Calibri" pitchFamily="34" charset="0"/>
                <a:ea typeface="Calibri" pitchFamily="34" charset="-122"/>
                <a:cs typeface="Calibri" pitchFamily="34" charset="-120"/>
              </a:rPr>
              <a:t>NST, FMT, Google Cloud (Feb 2025): AI at Work 2.0, up to 445,000 officers; pilot of 270 officers, 97% self-reported ~3.25 h/week saved.</a:t>
            </a:r>
            <a:endParaRPr lang="en-US" sz="1250" dirty="0"/>
          </a:p>
          <a:p>
            <a:pPr marL="342900" indent="-342900">
              <a:spcAft>
                <a:spcPts val="500"/>
              </a:spcAft>
              <a:buSzPct val="100000"/>
              <a:buChar char="•"/>
            </a:pPr>
            <a:r>
              <a:rPr lang="en-US" sz="1250" dirty="0">
                <a:solidFill>
                  <a:srgbClr val="1A1D21"/>
                </a:solidFill>
                <a:latin typeface="Calibri" pitchFamily="34" charset="0"/>
                <a:ea typeface="Calibri" pitchFamily="34" charset="-122"/>
                <a:cs typeface="Calibri" pitchFamily="34" charset="-120"/>
              </a:rPr>
              <a:t>GovInsider / JDN: DDMS 2.0 used by 395 agencies and 56,000+ users.</a:t>
            </a:r>
            <a:endParaRPr lang="en-US" sz="1250" dirty="0"/>
          </a:p>
          <a:p>
            <a:pPr marL="342900" indent="-342900">
              <a:spcAft>
                <a:spcPts val="500"/>
              </a:spcAft>
              <a:buSzPct val="100000"/>
              <a:buChar char="•"/>
            </a:pPr>
            <a:r>
              <a:rPr lang="en-US" sz="1250" dirty="0">
                <a:solidFill>
                  <a:srgbClr val="1A1D21"/>
                </a:solidFill>
                <a:latin typeface="Calibri" pitchFamily="34" charset="0"/>
                <a:ea typeface="Calibri" pitchFamily="34" charset="-122"/>
                <a:cs typeface="Calibri" pitchFamily="34" charset="-120"/>
              </a:rPr>
              <a:t>RTM, Berita Harian (2026): JPA review of circulars older than 20 years; Government Service Efficiency Commitment Act 2025 (Act 867) reviews every 3 years.</a:t>
            </a:r>
            <a:endParaRPr lang="en-US" sz="1250" dirty="0"/>
          </a:p>
          <a:p>
            <a:pPr marL="342900" indent="-342900">
              <a:spcAft>
                <a:spcPts val="500"/>
              </a:spcAft>
              <a:buSzPct val="100000"/>
              <a:buChar char="•"/>
            </a:pPr>
            <a:r>
              <a:rPr lang="en-US" sz="1250" dirty="0">
                <a:solidFill>
                  <a:srgbClr val="1A1D21"/>
                </a:solidFill>
                <a:latin typeface="Calibri" pitchFamily="34" charset="0"/>
                <a:ea typeface="Calibri" pitchFamily="34" charset="-122"/>
                <a:cs typeface="Calibri" pitchFamily="34" charset="-120"/>
              </a:rPr>
              <a:t>Malay Mail, SoyaCincau (Aug 2025): MyGov beta AI chatbot shut down after nonsense answers.</a:t>
            </a:r>
            <a:endParaRPr lang="en-US" sz="1250" dirty="0"/>
          </a:p>
          <a:p>
            <a:pPr marL="342900" indent="-342900">
              <a:spcAft>
                <a:spcPts val="500"/>
              </a:spcAft>
              <a:buSzPct val="100000"/>
              <a:buChar char="•"/>
            </a:pPr>
            <a:r>
              <a:rPr lang="en-US" sz="1250" dirty="0">
                <a:solidFill>
                  <a:srgbClr val="1A1D21"/>
                </a:solidFill>
                <a:latin typeface="Calibri" pitchFamily="34" charset="0"/>
                <a:ea typeface="Calibri" pitchFamily="34" charset="-122"/>
                <a:cs typeface="Calibri" pitchFamily="34" charset="-120"/>
              </a:rPr>
              <a:t>UKAS Sarawak (Jul 2026): ADAM AI for the Sarawak civil service; Borneo Post (Aug 2026): SAINS Sovereign AI Infrastructure Platform.</a:t>
            </a:r>
            <a:endParaRPr lang="en-US" sz="1250" dirty="0"/>
          </a:p>
          <a:p>
            <a:pPr marL="342900" indent="-342900">
              <a:spcAft>
                <a:spcPts val="500"/>
              </a:spcAft>
              <a:buSzPct val="100000"/>
              <a:buChar char="•"/>
            </a:pPr>
            <a:r>
              <a:rPr lang="en-US" sz="1250" dirty="0">
                <a:solidFill>
                  <a:srgbClr val="1A1D21"/>
                </a:solidFill>
                <a:latin typeface="Calibri" pitchFamily="34" charset="0"/>
                <a:ea typeface="Calibri" pitchFamily="34" charset="-122"/>
                <a:cs typeface="Calibri" pitchFamily="34" charset="-120"/>
              </a:rPr>
              <a:t>Sarawak eCircular: Surat Pekeliling ICT Bil. 4 Tahun 2025 (AI guideline); AWS (2023): Malaysia Region, US$6 billion by 2037.</a:t>
            </a:r>
            <a:endParaRPr lang="en-US" sz="1250" dirty="0"/>
          </a:p>
          <a:p>
            <a:pPr marL="342900" indent="-342900">
              <a:spcAft>
                <a:spcPts val="500"/>
              </a:spcAft>
              <a:buSzPct val="100000"/>
              <a:buChar char="•"/>
            </a:pPr>
            <a:r>
              <a:rPr lang="en-US" sz="1250" dirty="0">
                <a:solidFill>
                  <a:srgbClr val="1A1D21"/>
                </a:solidFill>
                <a:latin typeface="Calibri" pitchFamily="34" charset="0"/>
                <a:ea typeface="Calibri" pitchFamily="34" charset="-122"/>
                <a:cs typeface="Calibri" pitchFamily="34" charset="-120"/>
              </a:rPr>
              <a:t>Evaluation: prototype/eval/results/summary.md, 30 golden questions, synthetic corpus (SINTETIK - CONTOH SAHAJA).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MixUp Navigator - pitch deck</dc:title>
  <dc:subject>PptxGenJS Presentation</dc:subject>
  <dc:creator>PptxGenJS</dc:creator>
  <cp:lastModifiedBy>PptxGenJS</cp:lastModifiedBy>
  <cp:revision>1</cp:revision>
  <dcterms:created xsi:type="dcterms:W3CDTF">2026-10-07T05:53:02Z</dcterms:created>
  <dcterms:modified xsi:type="dcterms:W3CDTF">2026-10-07T05:53:02Z</dcterms:modified>
</cp:coreProperties>
</file>